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C1BE4FE7-BA00-70C3-33FE-6CDE2250458D}">
          <p14:sldIdLst>
            <p14:sldId id="256"/>
            <p14:sldId id="257"/>
            <p14:sldId id="258"/>
            <p14:sldId id="259"/>
          </p14:sldIdLst>
        </p14:section>
        <p14:section name="Dữ liệu" id="{6D1E3DF1-FED2-94BD-B6C3-A965865D067B}">
          <p14:sldIdLst>
            <p14:sldId id="260"/>
            <p14:sldId id="261"/>
            <p14:sldId id="262"/>
            <p14:sldId id="263"/>
            <p14:sldId id="264"/>
          </p14:sldIdLst>
        </p14:section>
        <p14:section name="Mô hình" id="{DA4126F6-41B8-C7EF-AC9C-BC23DDD1D015}">
          <p14:sldIdLst>
            <p14:sldId id="265"/>
            <p14:sldId id="266"/>
            <p14:sldId id="267"/>
            <p14:sldId id="268"/>
            <p14:sldId id="269"/>
          </p14:sldIdLst>
        </p14:section>
        <p14:section name="Hệ thống" id="{258D4534-5292-B2CE-5FA1-296EAE758654}">
          <p14:sldIdLst>
            <p14:sldId id="270"/>
            <p14:sldId id="271"/>
            <p14:sldId id="272"/>
          </p14:sldIdLst>
        </p14:section>
        <p14:section name="Kết luận" id="{A1BF25A7-FE4D-8E8C-22AB-CD2F55A8F298}">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A2E"/>
                </a:solidFill>
                <a:latin typeface="+mn-lt"/>
              </a:defRPr>
            </a:pPr>
            <a:r>
              <a:rPr lang="en-US" sz="1400" b="0" i="0" u="none" strike="noStrike">
                <a:solidFill>
                  <a:srgbClr val="1F2A2E"/>
                </a:solidFill>
                <a:latin typeface="+mn-lt"/>
              </a:rPr>
              <a:t>7.756 ảnh có mô tả</a:t>
            </a:r>
          </a:p>
        </c:rich>
      </c:tx>
      <c:overlay val="0"/>
    </c:title>
    <c:autoTitleDeleted val="0"/>
    <c:plotArea>
      <c:layout/>
      <c:doughnutChart>
        <c:varyColors val="1"/>
        <c:ser>
          <c:idx val="0"/>
          <c:order val="0"/>
          <c:tx>
            <c:strRef>
              <c:f>Sheet1!$B$1</c:f>
              <c:strCache>
                <c:ptCount val="1"/>
                <c:pt idx="0">
                  <c:v>Số ảnh</c:v>
                </c:pt>
              </c:strCache>
            </c:strRef>
          </c:tx>
          <c:spPr>
            <a:solidFill>
              <a:schemeClr val="accent1"/>
            </a:solidFill>
            <a:ln w="9525" cap="flat">
              <a:solidFill>
                <a:srgbClr val="F9F9F9"/>
              </a:solidFill>
              <a:prstDash val="solid"/>
              <a:round/>
            </a:ln>
            <a:effectLst/>
          </c:spPr>
          <c:dPt>
            <c:idx val="0"/>
            <c:bubble3D val="0"/>
            <c:spPr>
              <a:solidFill>
                <a:srgbClr val="5F8A77"/>
              </a:solidFill>
              <a:effectLst/>
            </c:spPr>
            <c:extLst>
              <c:ext xmlns:c16="http://schemas.microsoft.com/office/drawing/2014/chart" uri="{C3380CC4-5D6E-409C-BE32-E72D297353CC}">
                <c16:uniqueId val="{00000001-030B-AE40-9604-6EDA16077B63}"/>
              </c:ext>
            </c:extLst>
          </c:dPt>
          <c:dPt>
            <c:idx val="1"/>
            <c:bubble3D val="0"/>
            <c:spPr>
              <a:solidFill>
                <a:srgbClr val="8E2B22"/>
              </a:solidFill>
              <a:effectLst/>
            </c:spPr>
            <c:extLst>
              <c:ext xmlns:c16="http://schemas.microsoft.com/office/drawing/2014/chart" uri="{C3380CC4-5D6E-409C-BE32-E72D297353CC}">
                <c16:uniqueId val="{00000003-030B-AE40-9604-6EDA16077B63}"/>
              </c:ext>
            </c:extLst>
          </c:dPt>
          <c:dLbls>
            <c:dLbl>
              <c:idx val="0"/>
              <c:numFmt formatCode="General" sourceLinked="0"/>
              <c:spPr/>
              <c:txPr>
                <a:bodyPr/>
                <a:lstStyle/>
                <a:p>
                  <a:pPr>
                    <a:defRPr sz="1300" b="1" i="0" u="none" strike="noStrike">
                      <a:solidFill>
                        <a:srgbClr val="FFFFFF"/>
                      </a:solidFill>
                      <a:latin typeface="+mn-lt"/>
                    </a:defRPr>
                  </a:pPr>
                  <a:endParaRPr lang="en-V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0B-AE40-9604-6EDA16077B63}"/>
                </c:ext>
              </c:extLst>
            </c:dLbl>
            <c:dLbl>
              <c:idx val="1"/>
              <c:numFmt formatCode="General" sourceLinked="0"/>
              <c:spPr/>
              <c:txPr>
                <a:bodyPr/>
                <a:lstStyle/>
                <a:p>
                  <a:pPr>
                    <a:defRPr sz="1300" b="1" i="0" u="none" strike="noStrike">
                      <a:solidFill>
                        <a:srgbClr val="FFFFFF"/>
                      </a:solidFill>
                      <a:latin typeface="+mn-lt"/>
                    </a:defRPr>
                  </a:pPr>
                  <a:endParaRPr lang="en-V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0B-AE40-9604-6EDA16077B63}"/>
                </c:ext>
              </c:extLst>
            </c:dLbl>
            <c:numFmt formatCode="General" sourceLinked="0"/>
            <c:spPr>
              <a:noFill/>
              <a:ln>
                <a:noFill/>
              </a:ln>
              <a:effectLst/>
            </c:spPr>
            <c:txPr>
              <a:bodyPr/>
              <a:lstStyle/>
              <a:p>
                <a:pPr>
                  <a:defRPr sz="1800" b="1" i="0" u="none" strike="noStrike">
                    <a:solidFill>
                      <a:srgbClr val="000000"/>
                    </a:solidFill>
                    <a:latin typeface="Arial"/>
                  </a:defRPr>
                </a:pPr>
                <a:endParaRPr lang="en-VN"/>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Tự động chấp nhận</c:v>
                </c:pt>
                <c:pt idx="1">
                  <c:v>Người kiểm tra</c:v>
                </c:pt>
              </c:strCache>
            </c:strRef>
          </c:cat>
          <c:val>
            <c:numRef>
              <c:f>Sheet1!$B$2:$B$3</c:f>
              <c:numCache>
                <c:formatCode>General</c:formatCode>
                <c:ptCount val="2"/>
                <c:pt idx="0">
                  <c:v>6895</c:v>
                </c:pt>
                <c:pt idx="1">
                  <c:v>861</c:v>
                </c:pt>
              </c:numCache>
            </c:numRef>
          </c:val>
          <c:extLst>
            <c:ext xmlns:c16="http://schemas.microsoft.com/office/drawing/2014/chart" uri="{C3380CC4-5D6E-409C-BE32-E72D297353CC}">
              <c16:uniqueId val="{00000004-030B-AE40-9604-6EDA16077B63}"/>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1F2A2E"/>
              </a:solidFill>
              <a:latin typeface="+mn-lt"/>
              <a:cs typeface="+mn-lt"/>
            </a:defRPr>
          </a:pPr>
          <a:endParaRPr lang="en-VN"/>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A2E"/>
                </a:solidFill>
                <a:latin typeface="+mn-lt"/>
              </a:defRPr>
            </a:pPr>
            <a:r>
              <a:rPr lang="en-US" sz="1400" b="0" i="0" u="none" strike="noStrike">
                <a:solidFill>
                  <a:srgbClr val="1F2A2E"/>
                </a:solidFill>
                <a:latin typeface="+mn-lt"/>
              </a:rPr>
              <a:t>Loại ảnh trong bộ dữ liệu</a:t>
            </a:r>
          </a:p>
        </c:rich>
      </c:tx>
      <c:overlay val="0"/>
    </c:title>
    <c:autoTitleDeleted val="0"/>
    <c:plotArea>
      <c:layout/>
      <c:barChart>
        <c:barDir val="bar"/>
        <c:grouping val="clustered"/>
        <c:varyColors val="0"/>
        <c:ser>
          <c:idx val="0"/>
          <c:order val="0"/>
          <c:tx>
            <c:strRef>
              <c:f>Sheet1!$B$1</c:f>
              <c:strCache>
                <c:ptCount val="1"/>
                <c:pt idx="0">
                  <c:v>Số ảnh</c:v>
                </c:pt>
              </c:strCache>
            </c:strRef>
          </c:tx>
          <c:spPr>
            <a:solidFill>
              <a:srgbClr val="8E2B22"/>
            </a:solidFill>
            <a:effectLst/>
          </c:spPr>
          <c:invertIfNegative val="0"/>
          <c:dLbls>
            <c:numFmt formatCode="0" sourceLinked="0"/>
            <c:spPr>
              <a:noFill/>
              <a:ln>
                <a:noFill/>
              </a:ln>
              <a:effectLst/>
            </c:spPr>
            <c:txPr>
              <a:bodyPr/>
              <a:lstStyle/>
              <a:p>
                <a:pPr>
                  <a:defRPr sz="1100" b="0" i="0" u="none" strike="noStrike">
                    <a:solidFill>
                      <a:srgbClr val="1F2A2E"/>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Bản vẽ / bản đồ</c:v>
                </c:pt>
                <c:pt idx="1">
                  <c:v>Tượng</c:v>
                </c:pt>
                <c:pt idx="2">
                  <c:v>Chi tiết</c:v>
                </c:pt>
                <c:pt idx="3">
                  <c:v>Nội thất</c:v>
                </c:pt>
                <c:pt idx="4">
                  <c:v>Khác</c:v>
                </c:pt>
                <c:pt idx="5">
                  <c:v>Ngoại thất</c:v>
                </c:pt>
              </c:strCache>
            </c:strRef>
          </c:cat>
          <c:val>
            <c:numRef>
              <c:f>Sheet1!$B$2:$B$7</c:f>
              <c:numCache>
                <c:formatCode>General</c:formatCode>
                <c:ptCount val="6"/>
                <c:pt idx="0">
                  <c:v>167</c:v>
                </c:pt>
                <c:pt idx="1">
                  <c:v>401</c:v>
                </c:pt>
                <c:pt idx="2">
                  <c:v>694</c:v>
                </c:pt>
                <c:pt idx="3">
                  <c:v>707</c:v>
                </c:pt>
                <c:pt idx="4">
                  <c:v>1072</c:v>
                </c:pt>
                <c:pt idx="5">
                  <c:v>4715</c:v>
                </c:pt>
              </c:numCache>
            </c:numRef>
          </c:val>
          <c:extLst>
            <c:ext xmlns:c16="http://schemas.microsoft.com/office/drawing/2014/chart" uri="{C3380CC4-5D6E-409C-BE32-E72D297353CC}">
              <c16:uniqueId val="{00000000-6A08-5843-BB03-A51292EBF3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E"/>
                </a:solidFill>
                <a:latin typeface="+mn-lt"/>
              </a:defRPr>
            </a:pPr>
            <a:endParaRPr lang="en-VN"/>
          </a:p>
        </c:txPr>
        <c:crossAx val="2094734552"/>
        <c:crosses val="autoZero"/>
        <c:auto val="1"/>
        <c:lblAlgn val="ctr"/>
        <c:lblOffset val="100"/>
        <c:noMultiLvlLbl val="1"/>
      </c:catAx>
      <c:valAx>
        <c:axId val="2094734552"/>
        <c:scaling>
          <c:orientation val="minMax"/>
          <c:max val="56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CLIP gốc</c:v>
                </c:pt>
              </c:strCache>
            </c:strRef>
          </c:tx>
          <c:spPr>
            <a:solidFill>
              <a:srgbClr val="AEB6B2"/>
            </a:solidFill>
            <a:effectLst/>
          </c:spPr>
          <c:invertIfNegative val="0"/>
          <c:dLbls>
            <c:numFmt formatCode="0.0&quot;%&quot;" sourceLinked="0"/>
            <c:spPr>
              <a:noFill/>
              <a:ln>
                <a:noFill/>
              </a:ln>
              <a:effectLst/>
            </c:spPr>
            <c:txPr>
              <a:bodyPr/>
              <a:lstStyle/>
              <a:p>
                <a:pPr>
                  <a:defRPr sz="1100" b="0" i="0" u="none" strike="noStrike">
                    <a:solidFill>
                      <a:srgbClr val="1F2A2E"/>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Đúng ngay kết quả đầu</c:v>
                </c:pt>
                <c:pt idx="1">
                  <c:v>Có trong top 10</c:v>
                </c:pt>
                <c:pt idx="2">
                  <c:v>Có trong top 10 (cả kho 7.756 ảnh)</c:v>
                </c:pt>
              </c:strCache>
            </c:strRef>
          </c:cat>
          <c:val>
            <c:numRef>
              <c:f>Sheet1!$B$2:$B$4</c:f>
              <c:numCache>
                <c:formatCode>General</c:formatCode>
                <c:ptCount val="3"/>
                <c:pt idx="0">
                  <c:v>47.2</c:v>
                </c:pt>
                <c:pt idx="1">
                  <c:v>83.5</c:v>
                </c:pt>
                <c:pt idx="2">
                  <c:v>51.9</c:v>
                </c:pt>
              </c:numCache>
            </c:numRef>
          </c:val>
          <c:extLst>
            <c:ext xmlns:c16="http://schemas.microsoft.com/office/drawing/2014/chart" uri="{C3380CC4-5D6E-409C-BE32-E72D297353CC}">
              <c16:uniqueId val="{00000000-0384-C942-B38A-47BC0EDD6908}"/>
            </c:ext>
          </c:extLst>
        </c:ser>
        <c:ser>
          <c:idx val="1"/>
          <c:order val="1"/>
          <c:tx>
            <c:strRef>
              <c:f>Sheet1!$C$1</c:f>
              <c:strCache>
                <c:ptCount val="1"/>
                <c:pt idx="0">
                  <c:v>CLIP đã dạy lại</c:v>
                </c:pt>
              </c:strCache>
            </c:strRef>
          </c:tx>
          <c:spPr>
            <a:solidFill>
              <a:srgbClr val="8E2B22"/>
            </a:solidFill>
            <a:effectLst/>
          </c:spPr>
          <c:invertIfNegative val="0"/>
          <c:dLbls>
            <c:numFmt formatCode="0.0&quot;%&quot;" sourceLinked="0"/>
            <c:spPr>
              <a:noFill/>
              <a:ln>
                <a:noFill/>
              </a:ln>
              <a:effectLst/>
            </c:spPr>
            <c:txPr>
              <a:bodyPr/>
              <a:lstStyle/>
              <a:p>
                <a:pPr>
                  <a:defRPr sz="1100" b="0" i="0" u="none" strike="noStrike">
                    <a:solidFill>
                      <a:srgbClr val="1F2A2E"/>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Đúng ngay kết quả đầu</c:v>
                </c:pt>
                <c:pt idx="1">
                  <c:v>Có trong top 10</c:v>
                </c:pt>
                <c:pt idx="2">
                  <c:v>Có trong top 10 (cả kho 7.756 ảnh)</c:v>
                </c:pt>
              </c:strCache>
            </c:strRef>
          </c:cat>
          <c:val>
            <c:numRef>
              <c:f>Sheet1!$C$2:$C$4</c:f>
              <c:numCache>
                <c:formatCode>General</c:formatCode>
                <c:ptCount val="3"/>
                <c:pt idx="0">
                  <c:v>76.8</c:v>
                </c:pt>
                <c:pt idx="1">
                  <c:v>98.8</c:v>
                </c:pt>
                <c:pt idx="2">
                  <c:v>85.7</c:v>
                </c:pt>
              </c:numCache>
            </c:numRef>
          </c:val>
          <c:extLst>
            <c:ext xmlns:c16="http://schemas.microsoft.com/office/drawing/2014/chart" uri="{C3380CC4-5D6E-409C-BE32-E72D297353CC}">
              <c16:uniqueId val="{00000001-0384-C942-B38A-47BC0EDD690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2E"/>
                </a:solidFill>
                <a:latin typeface="+mn-lt"/>
              </a:defRPr>
            </a:pPr>
            <a:endParaRPr lang="en-VN"/>
          </a:p>
        </c:txPr>
        <c:crossAx val="2094734552"/>
        <c:crosses val="autoZero"/>
        <c:auto val="1"/>
        <c:lblAlgn val="ctr"/>
        <c:lblOffset val="100"/>
        <c:noMultiLvlLbl val="1"/>
      </c:catAx>
      <c:valAx>
        <c:axId val="2094734552"/>
        <c:scaling>
          <c:orientation val="minMax"/>
          <c:max val="11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F2A2E"/>
              </a:solidFill>
              <a:latin typeface="+mn-lt"/>
              <a:cs typeface="+mn-lt"/>
            </a:defRPr>
          </a:pPr>
          <a:endParaRPr lang="en-VN"/>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2E"/>
                </a:solidFill>
                <a:latin typeface="+mn-lt"/>
              </a:defRPr>
            </a:pPr>
            <a:r>
              <a:rPr lang="en-US" sz="1300" b="0" i="0" u="none" strike="noStrike">
                <a:solidFill>
                  <a:srgbClr val="1F2A2E"/>
                </a:solidFill>
                <a:latin typeface="+mn-lt"/>
              </a:rPr>
              <a:t>Trong 10 ảnh giống nhất, bao nhiêu % cùng công trình</a:t>
            </a:r>
          </a:p>
        </c:rich>
      </c:tx>
      <c:overlay val="0"/>
    </c:title>
    <c:autoTitleDeleted val="0"/>
    <c:plotArea>
      <c:layout/>
      <c:barChart>
        <c:barDir val="col"/>
        <c:grouping val="clustered"/>
        <c:varyColors val="0"/>
        <c:ser>
          <c:idx val="0"/>
          <c:order val="0"/>
          <c:tx>
            <c:strRef>
              <c:f>Sheet1!$B$1</c:f>
              <c:strCache>
                <c:ptCount val="1"/>
                <c:pt idx="0">
                  <c:v>CLIP gốc</c:v>
                </c:pt>
              </c:strCache>
            </c:strRef>
          </c:tx>
          <c:spPr>
            <a:solidFill>
              <a:srgbClr val="AEB6B2"/>
            </a:solidFill>
            <a:effectLst/>
          </c:spPr>
          <c:invertIfNegative val="0"/>
          <c:dLbls>
            <c:numFmt formatCode="0&quot;%&quot;" sourceLinked="0"/>
            <c:spPr>
              <a:noFill/>
              <a:ln>
                <a:noFill/>
              </a:ln>
              <a:effectLst/>
            </c:spPr>
            <c:txPr>
              <a:bodyPr/>
              <a:lstStyle/>
              <a:p>
                <a:pPr>
                  <a:defRPr sz="1100" b="0" i="0" u="none" strike="noStrike">
                    <a:solidFill>
                      <a:srgbClr val="1F2A2E"/>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Cổng</c:v>
                </c:pt>
                <c:pt idx="1">
                  <c:v>Bảo tháp</c:v>
                </c:pt>
                <c:pt idx="2">
                  <c:v>Chùa Linh Phước</c:v>
                </c:pt>
                <c:pt idx="3">
                  <c:v>Vườn</c:v>
                </c:pt>
              </c:strCache>
            </c:strRef>
          </c:cat>
          <c:val>
            <c:numRef>
              <c:f>Sheet1!$B$2:$B$5</c:f>
              <c:numCache>
                <c:formatCode>General</c:formatCode>
                <c:ptCount val="4"/>
                <c:pt idx="0">
                  <c:v>32.200000000000003</c:v>
                </c:pt>
                <c:pt idx="1">
                  <c:v>48.7</c:v>
                </c:pt>
                <c:pt idx="2">
                  <c:v>65.400000000000006</c:v>
                </c:pt>
                <c:pt idx="3">
                  <c:v>85.2</c:v>
                </c:pt>
              </c:numCache>
            </c:numRef>
          </c:val>
          <c:extLst>
            <c:ext xmlns:c16="http://schemas.microsoft.com/office/drawing/2014/chart" uri="{C3380CC4-5D6E-409C-BE32-E72D297353CC}">
              <c16:uniqueId val="{00000000-ED8F-8047-AEA4-80AC00A05B7C}"/>
            </c:ext>
          </c:extLst>
        </c:ser>
        <c:ser>
          <c:idx val="1"/>
          <c:order val="1"/>
          <c:tx>
            <c:strRef>
              <c:f>Sheet1!$C$1</c:f>
              <c:strCache>
                <c:ptCount val="1"/>
                <c:pt idx="0">
                  <c:v>CLIP đã dạy lại</c:v>
                </c:pt>
              </c:strCache>
            </c:strRef>
          </c:tx>
          <c:spPr>
            <a:solidFill>
              <a:srgbClr val="8E2B22"/>
            </a:solidFill>
            <a:effectLst/>
          </c:spPr>
          <c:invertIfNegative val="0"/>
          <c:dLbls>
            <c:numFmt formatCode="0&quot;%&quot;" sourceLinked="0"/>
            <c:spPr>
              <a:noFill/>
              <a:ln>
                <a:noFill/>
              </a:ln>
              <a:effectLst/>
            </c:spPr>
            <c:txPr>
              <a:bodyPr/>
              <a:lstStyle/>
              <a:p>
                <a:pPr>
                  <a:defRPr sz="1100" b="0" i="0" u="none" strike="noStrike">
                    <a:solidFill>
                      <a:srgbClr val="1F2A2E"/>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Cổng</c:v>
                </c:pt>
                <c:pt idx="1">
                  <c:v>Bảo tháp</c:v>
                </c:pt>
                <c:pt idx="2">
                  <c:v>Chùa Linh Phước</c:v>
                </c:pt>
                <c:pt idx="3">
                  <c:v>Vườn</c:v>
                </c:pt>
              </c:strCache>
            </c:strRef>
          </c:cat>
          <c:val>
            <c:numRef>
              <c:f>Sheet1!$C$2:$C$5</c:f>
              <c:numCache>
                <c:formatCode>General</c:formatCode>
                <c:ptCount val="4"/>
                <c:pt idx="0">
                  <c:v>40.4</c:v>
                </c:pt>
                <c:pt idx="1">
                  <c:v>60.7</c:v>
                </c:pt>
                <c:pt idx="2">
                  <c:v>77.7</c:v>
                </c:pt>
                <c:pt idx="3">
                  <c:v>85.2</c:v>
                </c:pt>
              </c:numCache>
            </c:numRef>
          </c:val>
          <c:extLst>
            <c:ext xmlns:c16="http://schemas.microsoft.com/office/drawing/2014/chart" uri="{C3380CC4-5D6E-409C-BE32-E72D297353CC}">
              <c16:uniqueId val="{00000001-ED8F-8047-AEA4-80AC00A05B7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E"/>
                </a:solidFill>
                <a:latin typeface="+mn-lt"/>
              </a:defRPr>
            </a:pPr>
            <a:endParaRPr lang="en-VN"/>
          </a:p>
        </c:txPr>
        <c:crossAx val="2094734552"/>
        <c:crosses val="autoZero"/>
        <c:auto val="1"/>
        <c:lblAlgn val="ctr"/>
        <c:lblOffset val="100"/>
        <c:noMultiLvlLbl val="1"/>
      </c:catAx>
      <c:valAx>
        <c:axId val="2094734552"/>
        <c:scaling>
          <c:orientation val="minMax"/>
          <c:max val="10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F2A2E"/>
              </a:solidFill>
              <a:latin typeface="+mn-lt"/>
              <a:cs typeface="+mn-lt"/>
            </a:defRPr>
          </a:pPr>
          <a:endParaRPr lang="en-VN"/>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792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Đề tài của em là xây dựng hệ thống tìm ảnh kiến trúc Việt Nam bằng lời mô tả. Nói ngắn gọn: người dùng gõ một câu như 'cổng chùa có rồng trên mái', hoặc đưa vào một tấm ảnh, và hệ thống trả về những ảnh phù hợp nhất trong kho gần 7.800 ảnh. Phần chính của đề tài là dạy lại mô hình CLIP để nó hiểu ảnh kiến trúc Việt Nam tốt hơn. Em sẽ trình bày theo thứ tự: bài toán, cách em chuẩn bị dữ liệu, cách dạy lại mô hình và kết quả, rồi tới hệ thống và phần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bắt đầu từ kho ảnh Wikimedia Commons. Ở đó có rất nhiều ảnh kiến trúc Việt Nam với giấy phép mở, nhưng phần mô tả do người tải lên tự viết nên thường rất sơ sài: có ảnh không có mô tả, có ảnh chỉ ghi tên địa danh. Vì vậy hiện nay chỉ tìm được theo tên tệp hoặc theo danh mục. Trong khi đó, người dùng thường muốn tìm theo cái họ nhìn thấy, ví dụ 'cổng chùa có tượng rồng trên mái'. Đề tài này giải quyết đúng khoảng trống đó: tìm ảnh theo nội dung.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làm được ba việc. Thứ nhất, tìm bằng lời mô tả: gõ một câu tiếng Anh, hệ thống trả về những ảnh khớp nhất. Thứ hai, tìm bằng ảnh mẫu: đưa vào một tấm ảnh, hệ thống tìm các ảnh có nội dung giống. Thứ ba, có thể thêm ảnh mới vào kho, và ảnh đó tìm được ngay. Lát nữa em sẽ demo cả ba việc này.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đề tài gồm bốn bước. Một, thu thập ảnh từ Wikimedia Commons và làm sạch. Hai, dùng AI viết mô tả cho từng ảnh, vì ảnh gốc hầu như không có mô tả dùng được. Ba, dùng các cặp ảnh và mô tả đó để dạy lại mô hình CLIP. Đây là phần chính. Bốn, đưa mô hình vào một hệ thống tìm kiếm có giao diện web.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lấy ảnh từ danh mục 'Architecture of Vietnam' trên Wikimedia Commons, tải được 7.846 ảnh, kèm thông tin như tác giả, giấy phép, danh mục, tọa độ. Sau đó em lọc bỏ 84 ảnh: ảnh quá nhỏ, ảnh toàn cảnh quá dài vì khi đưa vào mô hình sẽ bị cắt mất phần lớn, và ảnh trùng nhau. Ảnh trùng được phát hiện bằng một loại dấu vân tay của ảnh, gọi là perceptual hash. Còn lại 7.762 ảnh sạch.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có rồi, nhưng không có mô tả. Viết tay gần 7.800 mô tả thì không khả thi, nên em dùng hai mô hình AI có khả năng đọc ảnh là Qwen và Gemma, chạy ngay trên máy. Cả hai nhận cùng một yêu cầu: mô tả bằng tiếng Anh, khoảng 15 đến 40 từ, chỉ tả những gì nhìn thấy. Em cấm AI đoán tên công trình, vì nếu nó đoán sai thì mô hình sẽ học sai. Mô tả thu được giống cách người dùng thật gõ khi tìm kiếm, ví dụ như câu bên phải.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sao biết AI viết đúng? Em dùng cách kiểm tra chéo. Mỗi ảnh có hai mô tả từ hai AI khác nhau. Nếu hai mô tả có ý giống nhau, rất khó có chuyện cả hai cùng sai theo một kiểu, nên em giữ mô tả của Qwen. Nếu hai mô tả khác nhau nhiều, có thể một trong hai đã sai, và em xem ảnh để chọn lại hoặc tự viết lại. Để chọn ngưỡng thế nào là giống nhau, em chấm tay 100 ảnh mẫu, thấy mô tả của Qwen đúng 94 trên 100. Kết quả: khoảng 89% số ảnh được chấp nhận tự động, chỉ 861 ảnh, khoảng 11%, cần người xem.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vài ví dụ thật cho thấy vì sao cần kiểm tra chéo. Một bức phù điêu đá màu xanh, Qwen lại tả thành cảnh dưới nước có cá bơi. Một cổng đình, Qwen tự đoán tên đình dù em đã yêu cầu không đoán. Ở hai trường hợp này em chọn mô tả của Gemma. Có trường hợp cả hai đều sai, em phải tự viết lại. Trong 861 ảnh xem lại, em đổi 318 ảnh so với lựa chọn mặc định.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bước này em có 7.756 cặp ảnh và mô tả, mỗi mô tả trung bình 27 từ. Phần lớn là ảnh mặt ngoài công trình, nhưng cũng có nội thất, chi tiết trang trí, tượng và bản vẽ. Đây là dữ liệu dùng để dạy lại mô hình ở phần tiếp theo.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là mô hình của OpenAI. Ý tưởng rất đơn giản: nó biến cả ảnh và câu chữ thành những điểm trên cùng một bản đồ. Ảnh và câu có cùng ý thì nằm gần nhau, như hình ở giữa: chấm đỏ là ảnh, chấm vàng là câu. Tìm kiếm khi đó chỉ là tìm những ảnh nằm gần câu người dùng gõ. Vấn đề là CLIP học từ ảnh trên internet nói chung, nên chưa quen với kiến trúc Việt Nam. Khi em thử tìm trong toàn kho bằng CLIP gốc, chỉ khoảng một nửa số mô tả tìm thấy ảnh đúng trong 10 kết quả đầu.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dạy lại khá trực quan. Mỗi lượt, mô hình nhận 256 ảnh và 256 mô tả, nhiệm vụ là ghép đúng ảnh với mô tả của nó. Làm đi làm lại, mô hình học được ảnh nào đi với cách mô tả nào. Em không dạy lại toàn bộ mà chỉ chỉnh 4 tầng cuối, khoảng 27% số tham số, để mô hình không quên những gì đã biết. Nhờ tính sẵn phần không thay đổi, việc train chạy được trên laptop, mất khoảng 65 phút. Và để chấm điểm công bằng, em tách riêng 776 ảnh mà mô hình không được thấy khi học.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quan trọng nhất. Em lấy mô tả của 776 ảnh để riêng làm câu tìm kiếm, xem mô hình có tìm ra đúng ảnh không. Với CLIP gốc, 47% trường hợp ảnh đúng nằm ngay kết quả đầu tiên; sau khi dạy lại, con số này là 77%. Khi tìm trong cả kho gần 7.800 ảnh, khó hơn nhiều, tỉ lệ ảnh đúng nằm trong 10 kết quả đầu tăng từ 52% lên 86%. Nói cách khác, trước đây gần một nửa số lần tìm không thấy ảnh đúng ở trang đầu, giờ chỉ còn khoảng 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ví dụ cụ thể. Câu tìm kiếm mô tả cổng chùa Đại Bi: cổng sắt có chữ vạn, biển tên chùa, mái có rồng. Hàng trên là 5 kết quả đầu của CLIP gốc, hàng dưới là của mô hình đã dạy lại; khung đen là ảnh đúng. CLIP gốc cũng hiểu ý chung, ảnh đầu tiên của nó vẫn là cổng Đại Bi nhưng là một tấm khác, và nó xen vào các ảnh chi tiết rồng trên mái, nên ảnh đúng bị đẩy xuống tận hạng 79. Mô hình mới đưa ảnh đúng lên hạng 1 và trả về toàn ảnh cổng có biển chữ. Em lưu ý ví dụ này được chọn để minh họa; con số khách quan là ở slide trước.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tìm ảnh giống ảnh, mức cải thiện nhỏ hơn: tính chung, trong 10 ảnh giống nhất, tỉ lệ cùng công trình tăng từ 53 lên 58%. Điều này dễ hiểu vì mô hình được dạy để ghép ảnh với mô tả, chứ không được dạy trực tiếp so ảnh với ảnh. Nhìn theo từng nhóm thì rõ hơn: cổng, bảo tháp, chùa Linh Phước tăng 8 đến 12 điểm, còn cảnh vườn thì không đổi, vì ít chi tiết kiến trúc để học.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tìm bằng mô tả, hệ thống chạy ba cách cùng lúc. Cách thứ nhất so từ khóa, mạnh với tên riêng như CHÙA ĐẠI BI. Cách thứ hai so ý nghĩa: gõ 'place of worship', nơi thờ tự, hệ thống ra nhà thờ và đình làng dù trong mô tả không có từ nào trùng. Cách thứ ba là nơi CLIP đã dạy lại được dùng: so câu trực tiếp với tấm ảnh. Ví dụ 'ladder against a wall', cái thang dựa tường, nó tìm ra cả những ảnh có thang mà mô tả không nhắc tới. Ba danh sách được trộn lại: ảnh được nhiều cách cùng xếp cao sẽ lên đầu.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mặt kỹ thuật, hệ thống gồm ba phần. Giao diện web để người dùng tìm kiếm và thêm ảnh. Máy chủ viết bằng FastAPI nhận yêu cầu, gọi mô hình và trộn kết quả. Qdrant là cơ sở dữ liệu lưu 'tọa độ' của từng ảnh và mô tả trên bản đồ mà em nói lúc nãy, cùng với kho chứa file ảnh. Mô hình CLIP đã dạy lại chạy trong máy chủ. Khi đổi mô hình, chỉ cần tính lại tọa độ cho các ảnh, khoảng 7 phút cho cả kho.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em demo trực tiếp. [Chuyển sang trình duyệt, mở localhost:8000.] Một: gõ 'brick Cham tower'. Các bạn thấy mỗi ảnh có nhãn cho biết nó được tìm ra bằng từ khóa, ý nghĩa hay nội dung ảnh. Hai: gõ 'place of worship', thử chế độ Chỉ từ khóa, kết quả sai, có cả cây cầu; chuyển sang Kết hợp thì ra nhà thờ, đình làng. Ba: bấm vào một ảnh, chọn Tìm ảnh tương đồng. Bốn: dán một ảnh từ ngoài vào để tìm bằng ảnh mẫu. [Nếu demo lỗi: quay lại slide ví dụ để giải thích bằng hình.]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hệ thống mới tìm bằng tiếng Anh. Câu dùng để chấm điểm do AI viết nên dài và chi tiết hơn câu người dùng thật gõ, nên con số thực tế có thể thấp hơn một chút. Tìm ảnh giống ảnh mới cải thiện ít. Và theo ước lượng, khoảng 4% mô tả vẫn có thể sai. Hướng tiếp theo là hỗ trợ tiếng Việt, xây bộ câu hỏi do người thật viết để chấm điểm, dạy thêm cách so ảnh với ảnh, và thử mô hình lớn hơn khi có GPU.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em đã làm ba việc: dùng hai AI viết và kiểm tra chéo mô tả cho gần 7.800 ảnh kiến trúc Việt Nam; dạy lại CLIP ngay trên laptop, giúp tỉ lệ tìm đúng ở kết quả đầu tăng từ 47 lên 77%; và xây dựng hệ thống web tìm bằng mô tả hoặc bằng ảnh. Em xin cảm ơn thầy và các bạn đã lắng nghe, em sẵn sàng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7863840" cy="1371600"/>
          </a:xfrm>
          <a:prstGeom prst="rect">
            <a:avLst/>
          </a:prstGeom>
          <a:noFill/>
          <a:ln/>
        </p:spPr>
        <p:txBody>
          <a:bodyPr wrap="square" rtlCol="0"/>
          <a:lstStyle>
            <a:lvl1pPr marL="0" indent="0" algn="l">
              <a:buNone/>
              <a:defRPr lang="en-US" sz="36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2926080"/>
            <a:ext cx="7863840" cy="109728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011680"/>
            <a:ext cx="7863840" cy="91440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a:spLocks noGrp="1"/>
          </p:cNvSpPr>
          <p:nvPr>
            <p:ph type="body" idx="101" hasCustomPrompt="1"/>
          </p:nvPr>
        </p:nvSpPr>
        <p:spPr>
          <a:xfrm>
            <a:off x="640080" y="2926080"/>
            <a:ext cx="7863840" cy="73152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48640"/>
            <a:ext cx="7863840" cy="82296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a:spLocks noGrp="1"/>
          </p:cNvSpPr>
          <p:nvPr>
            <p:ph type="body" idx="101" hasCustomPrompt="1"/>
          </p:nvPr>
        </p:nvSpPr>
        <p:spPr>
          <a:xfrm>
            <a:off x="640080" y="1554480"/>
            <a:ext cx="7863840" cy="301752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28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7863840" cy="1371600"/>
          </a:xfrm>
          <a:prstGeom prst="rect">
            <a:avLst/>
          </a:prstGeom>
          <a:noFill/>
          <a:ln/>
        </p:spPr>
        <p:txBody>
          <a:bodyPr wrap="square" rtlCol="0" anchor="b"/>
          <a:lstStyle/>
          <a:p>
            <a:pPr marL="0" indent="0" algn="l">
              <a:buNone/>
            </a:pPr>
            <a:r>
              <a:rPr lang="en-US" sz="3600" b="1" dirty="0">
                <a:solidFill>
                  <a:schemeClr val="bg1"/>
                </a:solidFill>
                <a:latin typeface="Cambria" pitchFamily="34" charset="0"/>
                <a:ea typeface="Cambria" pitchFamily="34" charset="-122"/>
                <a:cs typeface="Cambria" pitchFamily="34" charset="-120"/>
              </a:rPr>
              <a:t>Tìm ảnh kiến trúc Việt Nam bằng lời mô tả</a:t>
            </a:r>
            <a:endParaRPr lang="en-US" sz="3600" dirty="0"/>
          </a:p>
        </p:txBody>
      </p:sp>
      <p:sp>
        <p:nvSpPr>
          <p:cNvPr id="3" name="Text 0"/>
          <p:cNvSpPr>
            <a:spLocks noGrp="1"/>
          </p:cNvSpPr>
          <p:nvPr>
            <p:ph type="body" idx="101" hasCustomPrompt="1"/>
          </p:nvPr>
        </p:nvSpPr>
        <p:spPr>
          <a:xfrm>
            <a:off x="640080" y="2926079"/>
            <a:ext cx="7863840" cy="1854077"/>
          </a:xfrm>
          <a:prstGeom prst="rect">
            <a:avLst/>
          </a:prstGeom>
          <a:noFill/>
          <a:ln/>
        </p:spPr>
        <p:txBody>
          <a:bodyPr wrap="square" rtlCol="0" anchor="t"/>
          <a:lstStyle/>
          <a:p>
            <a:pPr marL="0" indent="0" algn="l">
              <a:buNone/>
            </a:pPr>
            <a:r>
              <a:rPr lang="en-US" sz="1600" dirty="0">
                <a:solidFill>
                  <a:schemeClr val="accent6"/>
                </a:solidFill>
              </a:rPr>
              <a:t>Dạy lại mô hình CLIP bằng mô tả do AI viết, rồi đưa vào một hệ thống </a:t>
            </a:r>
            <a:r>
              <a:rPr lang="en-US" sz="1600" dirty="0" err="1">
                <a:solidFill>
                  <a:schemeClr val="accent6"/>
                </a:solidFill>
              </a:rPr>
              <a:t>tìm</a:t>
            </a:r>
            <a:r>
              <a:rPr lang="en-US" sz="1600" dirty="0">
                <a:solidFill>
                  <a:schemeClr val="accent6"/>
                </a:solidFill>
              </a:rPr>
              <a:t> </a:t>
            </a:r>
            <a:r>
              <a:rPr lang="en-US" sz="1600" dirty="0" err="1">
                <a:solidFill>
                  <a:schemeClr val="accent6"/>
                </a:solidFill>
              </a:rPr>
              <a:t>kiếm</a:t>
            </a:r>
            <a:endParaRPr lang="en-US" sz="1600" dirty="0">
              <a:solidFill>
                <a:schemeClr val="accent6"/>
              </a:solidFill>
            </a:endParaRPr>
          </a:p>
          <a:p>
            <a:pPr marL="0" indent="0" algn="l">
              <a:buNone/>
            </a:pPr>
            <a:endParaRPr lang="en-US" sz="1600" dirty="0"/>
          </a:p>
          <a:p>
            <a:pPr marL="0" indent="0" algn="l">
              <a:buNone/>
            </a:pPr>
            <a:r>
              <a:rPr lang="en-US" sz="1600" dirty="0" err="1">
                <a:solidFill>
                  <a:schemeClr val="accent6"/>
                </a:solidFill>
              </a:rPr>
              <a:t>Võ</a:t>
            </a:r>
            <a:r>
              <a:rPr lang="en-US" sz="1600" dirty="0">
                <a:solidFill>
                  <a:schemeClr val="accent6"/>
                </a:solidFill>
              </a:rPr>
              <a:t> </a:t>
            </a:r>
            <a:r>
              <a:rPr lang="en-US" sz="1600" dirty="0" err="1">
                <a:solidFill>
                  <a:schemeClr val="accent6"/>
                </a:solidFill>
              </a:rPr>
              <a:t>Duy</a:t>
            </a:r>
            <a:r>
              <a:rPr lang="en-US" sz="1600" dirty="0">
                <a:solidFill>
                  <a:schemeClr val="accent6"/>
                </a:solidFill>
              </a:rPr>
              <a:t> </a:t>
            </a:r>
            <a:r>
              <a:rPr lang="en-US" sz="1600" dirty="0" err="1">
                <a:solidFill>
                  <a:schemeClr val="accent6"/>
                </a:solidFill>
              </a:rPr>
              <a:t>Luân</a:t>
            </a:r>
            <a:r>
              <a:rPr lang="en-US" sz="1600" dirty="0">
                <a:solidFill>
                  <a:schemeClr val="accent6"/>
                </a:solidFill>
              </a:rPr>
              <a:t> – </a:t>
            </a:r>
            <a:r>
              <a:rPr lang="en-US" sz="1600" dirty="0" err="1">
                <a:solidFill>
                  <a:schemeClr val="accent6"/>
                </a:solidFill>
              </a:rPr>
              <a:t>Nguyễn</a:t>
            </a:r>
            <a:r>
              <a:rPr lang="en-US" sz="1600" dirty="0">
                <a:solidFill>
                  <a:schemeClr val="accent6"/>
                </a:solidFill>
              </a:rPr>
              <a:t> </a:t>
            </a:r>
            <a:r>
              <a:rPr lang="en-US" sz="1600" dirty="0" err="1">
                <a:solidFill>
                  <a:schemeClr val="accent6"/>
                </a:solidFill>
              </a:rPr>
              <a:t>Huỳnh</a:t>
            </a:r>
            <a:r>
              <a:rPr lang="en-US" sz="1600" dirty="0">
                <a:solidFill>
                  <a:schemeClr val="accent6"/>
                </a:solidFill>
              </a:rPr>
              <a:t> </a:t>
            </a:r>
            <a:r>
              <a:rPr lang="en-US" sz="1600" dirty="0" err="1">
                <a:solidFill>
                  <a:schemeClr val="accent6"/>
                </a:solidFill>
              </a:rPr>
              <a:t>Duyên</a:t>
            </a:r>
            <a:r>
              <a:rPr lang="en-US" sz="1600" dirty="0">
                <a:solidFill>
                  <a:schemeClr val="accent6"/>
                </a:solidFill>
              </a:rPr>
              <a:t> </a:t>
            </a:r>
          </a:p>
          <a:p>
            <a:pPr marL="0" indent="0" algn="l">
              <a:buNone/>
            </a:pPr>
            <a:endParaRPr lang="en-US" sz="1600" dirty="0">
              <a:solidFill>
                <a:schemeClr val="accent6"/>
              </a:solidFill>
            </a:endParaRPr>
          </a:p>
          <a:p>
            <a:r>
              <a:rPr lang="en-US" sz="1600" dirty="0">
                <a:solidFill>
                  <a:schemeClr val="accent6"/>
                </a:solidFill>
              </a:rPr>
              <a:t>[ ] </a:t>
            </a:r>
            <a:r>
              <a:rPr lang="en-US" sz="1600" dirty="0" err="1">
                <a:solidFill>
                  <a:schemeClr val="accent6"/>
                </a:solidFill>
              </a:rPr>
              <a:t>Học</a:t>
            </a:r>
            <a:r>
              <a:rPr lang="en-US" sz="1600" dirty="0">
                <a:solidFill>
                  <a:schemeClr val="accent6"/>
                </a:solidFill>
              </a:rPr>
              <a:t> </a:t>
            </a:r>
            <a:r>
              <a:rPr lang="en-US" sz="1600" dirty="0" err="1">
                <a:solidFill>
                  <a:schemeClr val="accent6"/>
                </a:solidFill>
              </a:rPr>
              <a:t>phần</a:t>
            </a:r>
            <a:r>
              <a:rPr lang="en-US" sz="1600" dirty="0">
                <a:solidFill>
                  <a:schemeClr val="accent6"/>
                </a:solidFill>
              </a:rPr>
              <a:t> : </a:t>
            </a:r>
            <a:r>
              <a:rPr lang="en-US" sz="1600" dirty="0" err="1">
                <a:solidFill>
                  <a:schemeClr val="accent6"/>
                </a:solidFill>
              </a:rPr>
              <a:t>Trí</a:t>
            </a:r>
            <a:r>
              <a:rPr lang="en-US" sz="1600" dirty="0">
                <a:solidFill>
                  <a:schemeClr val="accent6"/>
                </a:solidFill>
              </a:rPr>
              <a:t> </a:t>
            </a:r>
            <a:r>
              <a:rPr lang="en-US" sz="1600" dirty="0" err="1">
                <a:solidFill>
                  <a:schemeClr val="accent6"/>
                </a:solidFill>
              </a:rPr>
              <a:t>tuệ</a:t>
            </a:r>
            <a:r>
              <a:rPr lang="en-US" sz="1600" dirty="0">
                <a:solidFill>
                  <a:schemeClr val="accent6"/>
                </a:solidFill>
              </a:rPr>
              <a:t> </a:t>
            </a:r>
            <a:r>
              <a:rPr lang="en-US" sz="1600" dirty="0" err="1">
                <a:solidFill>
                  <a:schemeClr val="accent6"/>
                </a:solidFill>
              </a:rPr>
              <a:t>nhân</a:t>
            </a:r>
            <a:r>
              <a:rPr lang="en-US" sz="1600" dirty="0">
                <a:solidFill>
                  <a:schemeClr val="accent6"/>
                </a:solidFill>
              </a:rPr>
              <a:t> </a:t>
            </a:r>
            <a:r>
              <a:rPr lang="en-US" sz="1600" dirty="0" err="1">
                <a:solidFill>
                  <a:schemeClr val="accent6"/>
                </a:solidFill>
              </a:rPr>
              <a:t>tạo</a:t>
            </a:r>
            <a:r>
              <a:rPr lang="en-US" sz="1600" dirty="0">
                <a:solidFill>
                  <a:schemeClr val="accent6"/>
                </a:solidFill>
              </a:rPr>
              <a:t> </a:t>
            </a:r>
            <a:r>
              <a:rPr lang="en-US" sz="1600" dirty="0" err="1">
                <a:solidFill>
                  <a:schemeClr val="accent6"/>
                </a:solidFill>
              </a:rPr>
              <a:t>nâng</a:t>
            </a:r>
            <a:r>
              <a:rPr lang="en-US" sz="1600" dirty="0">
                <a:solidFill>
                  <a:schemeClr val="accent6"/>
                </a:solidFill>
              </a:rPr>
              <a:t> </a:t>
            </a:r>
            <a:r>
              <a:rPr lang="en-US" sz="1600" dirty="0" err="1">
                <a:solidFill>
                  <a:schemeClr val="accent6"/>
                </a:solidFill>
              </a:rPr>
              <a:t>cao</a:t>
            </a:r>
            <a:r>
              <a:rPr lang="en-US" dirty="0"/>
              <a:t> </a:t>
            </a:r>
            <a:r>
              <a:rPr lang="en-US" sz="1600" dirty="0">
                <a:solidFill>
                  <a:schemeClr val="accent6"/>
                </a:solidFill>
              </a:rPr>
              <a:t>· GVHD: </a:t>
            </a:r>
            <a:r>
              <a:rPr lang="en-US" sz="1600" dirty="0" err="1">
                <a:solidFill>
                  <a:schemeClr val="accent6"/>
                </a:solidFill>
              </a:rPr>
              <a:t>Nguyễn</a:t>
            </a:r>
            <a:r>
              <a:rPr lang="en-US" sz="1600" dirty="0">
                <a:solidFill>
                  <a:schemeClr val="accent6"/>
                </a:solidFill>
              </a:rPr>
              <a:t> </a:t>
            </a:r>
            <a:r>
              <a:rPr lang="en-US" sz="1600" dirty="0" err="1">
                <a:solidFill>
                  <a:schemeClr val="accent6"/>
                </a:solidFill>
              </a:rPr>
              <a:t>Thị</a:t>
            </a:r>
            <a:r>
              <a:rPr lang="en-US" dirty="0"/>
              <a:t> </a:t>
            </a:r>
            <a:r>
              <a:rPr lang="en-US" dirty="0" err="1"/>
              <a:t>Khánh</a:t>
            </a:r>
            <a:r>
              <a:rPr lang="en-US" sz="1600" dirty="0">
                <a:solidFill>
                  <a:schemeClr val="accent6"/>
                </a:solidFill>
              </a:rPr>
              <a:t> </a:t>
            </a:r>
            <a:r>
              <a:rPr lang="en-US" sz="1600" dirty="0" err="1">
                <a:solidFill>
                  <a:schemeClr val="accent6"/>
                </a:solidFill>
              </a:rPr>
              <a:t>Tiên</a:t>
            </a:r>
            <a:endParaRPr lang="en-US" sz="1600" dirty="0">
              <a:solidFill>
                <a:schemeClr val="accent6"/>
              </a:solidFill>
            </a:endParaRPr>
          </a:p>
          <a:p>
            <a:r>
              <a:rPr lang="en-US" sz="1600" dirty="0">
                <a:solidFill>
                  <a:schemeClr val="accent6"/>
                </a:solidFill>
              </a:rPr>
              <a:t>[ ] </a:t>
            </a:r>
            <a:r>
              <a:rPr lang="en-US" sz="1600" dirty="0" err="1">
                <a:solidFill>
                  <a:schemeClr val="accent6"/>
                </a:solidFill>
              </a:rPr>
              <a:t>Học</a:t>
            </a:r>
            <a:r>
              <a:rPr lang="en-US" sz="1600" dirty="0">
                <a:solidFill>
                  <a:schemeClr val="accent6"/>
                </a:solidFill>
              </a:rPr>
              <a:t> </a:t>
            </a:r>
            <a:r>
              <a:rPr lang="en-US" sz="1600" dirty="0" err="1">
                <a:solidFill>
                  <a:schemeClr val="accent6"/>
                </a:solidFill>
              </a:rPr>
              <a:t>phần</a:t>
            </a:r>
            <a:r>
              <a:rPr lang="en-US" sz="1600" dirty="0">
                <a:solidFill>
                  <a:schemeClr val="accent6"/>
                </a:solidFill>
              </a:rPr>
              <a:t> : </a:t>
            </a:r>
            <a:r>
              <a:rPr lang="en-US" sz="1600" dirty="0" err="1">
                <a:solidFill>
                  <a:schemeClr val="accent6"/>
                </a:solidFill>
              </a:rPr>
              <a:t>Khai</a:t>
            </a:r>
            <a:r>
              <a:rPr lang="en-US" sz="1600" dirty="0">
                <a:solidFill>
                  <a:schemeClr val="accent6"/>
                </a:solidFill>
              </a:rPr>
              <a:t> </a:t>
            </a:r>
            <a:r>
              <a:rPr lang="en-US" sz="1600" dirty="0" err="1">
                <a:solidFill>
                  <a:schemeClr val="accent6"/>
                </a:solidFill>
              </a:rPr>
              <a:t>thác</a:t>
            </a:r>
            <a:r>
              <a:rPr lang="en-US" sz="1600" dirty="0">
                <a:solidFill>
                  <a:schemeClr val="accent6"/>
                </a:solidFill>
              </a:rPr>
              <a:t> </a:t>
            </a:r>
            <a:r>
              <a:rPr lang="en-US" sz="1600" dirty="0" err="1">
                <a:solidFill>
                  <a:schemeClr val="accent6"/>
                </a:solidFill>
              </a:rPr>
              <a:t>dữ</a:t>
            </a:r>
            <a:r>
              <a:rPr lang="en-US" sz="1600" dirty="0">
                <a:solidFill>
                  <a:schemeClr val="accent6"/>
                </a:solidFill>
              </a:rPr>
              <a:t> lieu · GVHD: </a:t>
            </a:r>
            <a:r>
              <a:rPr lang="en-US" sz="1600" dirty="0" err="1">
                <a:solidFill>
                  <a:schemeClr val="accent6"/>
                </a:solidFill>
              </a:rPr>
              <a:t>Trần</a:t>
            </a:r>
            <a:r>
              <a:rPr lang="en-US" sz="1600" dirty="0">
                <a:solidFill>
                  <a:schemeClr val="accent6"/>
                </a:solidFill>
              </a:rPr>
              <a:t> </a:t>
            </a:r>
            <a:r>
              <a:rPr lang="en-US" sz="1600" dirty="0" err="1">
                <a:solidFill>
                  <a:schemeClr val="accent6"/>
                </a:solidFill>
              </a:rPr>
              <a:t>Thái</a:t>
            </a:r>
            <a:r>
              <a:rPr lang="en-US" sz="1600" dirty="0">
                <a:solidFill>
                  <a:schemeClr val="accent6"/>
                </a:solidFill>
              </a:rPr>
              <a:t> Vinh</a:t>
            </a:r>
            <a:endParaRPr lang="en-US" dirty="0"/>
          </a:p>
          <a:p>
            <a:pPr marL="0" indent="0" algn="l">
              <a:buNone/>
            </a:pPr>
            <a:r>
              <a:rPr lang="en-US" sz="1600" dirty="0">
                <a:solidFill>
                  <a:schemeClr val="accent6"/>
                </a:solidFill>
              </a:rPr>
              <a:t>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Có nhiều ảnh, nhưng khó tìm đúng ảnh</a:t>
            </a:r>
            <a:endParaRPr lang="en-US" sz="2800" dirty="0"/>
          </a:p>
        </p:txBody>
      </p:sp>
      <p:sp>
        <p:nvSpPr>
          <p:cNvPr id="3" name="card-1"/>
          <p:cNvSpPr/>
          <p:nvPr/>
        </p:nvSpPr>
        <p:spPr>
          <a:xfrm>
            <a:off x="457200" y="1234440"/>
            <a:ext cx="3931920" cy="3200400"/>
          </a:xfrm>
          <a:prstGeom prst="roundRect">
            <a:avLst>
              <a:gd name="adj" fmla="val 3429"/>
            </a:avLst>
          </a:prstGeom>
          <a:solidFill>
            <a:schemeClr val="bg2"/>
          </a:solidFill>
          <a:ln w="12700">
            <a:solidFill>
              <a:schemeClr val="bg2"/>
            </a:solidFill>
            <a:prstDash val="solid"/>
          </a:ln>
        </p:spPr>
      </p:sp>
      <p:sp>
        <p:nvSpPr>
          <p:cNvPr id="4" name="badge-2"/>
          <p:cNvSpPr/>
          <p:nvPr/>
        </p:nvSpPr>
        <p:spPr>
          <a:xfrm>
            <a:off x="731520" y="1508760"/>
            <a:ext cx="548640" cy="548640"/>
          </a:xfrm>
          <a:prstGeom prst="ellipse">
            <a:avLst/>
          </a:prstGeom>
          <a:solidFill>
            <a:schemeClr val="accent1"/>
          </a:solidFill>
          <a:ln w="12700">
            <a:solidFill>
              <a:schemeClr val="accent1"/>
            </a:solidFill>
            <a:prstDash val="solid"/>
          </a:ln>
        </p:spPr>
      </p:sp>
      <p:pic>
        <p:nvPicPr>
          <p:cNvPr id="5" name="icon-3" descr="preencoded.png"/>
          <p:cNvPicPr>
            <a:picLocks noChangeAspect="1"/>
          </p:cNvPicPr>
          <p:nvPr/>
        </p:nvPicPr>
        <p:blipFill>
          <a:blip r:embed="rId3"/>
          <a:stretch>
            <a:fillRect/>
          </a:stretch>
        </p:blipFill>
        <p:spPr>
          <a:xfrm>
            <a:off x="868680" y="1645920"/>
            <a:ext cx="274320" cy="274320"/>
          </a:xfrm>
          <a:prstGeom prst="rect">
            <a:avLst/>
          </a:prstGeom>
        </p:spPr>
      </p:pic>
      <p:sp>
        <p:nvSpPr>
          <p:cNvPr id="6" name="txt-4"/>
          <p:cNvSpPr txBox="1"/>
          <p:nvPr/>
        </p:nvSpPr>
        <p:spPr>
          <a:xfrm>
            <a:off x="1463040" y="1572768"/>
            <a:ext cx="2743200" cy="411480"/>
          </a:xfrm>
          <a:prstGeom prst="rect">
            <a:avLst/>
          </a:prstGeom>
          <a:noFill/>
          <a:ln/>
        </p:spPr>
        <p:txBody>
          <a:bodyPr wrap="square" lIns="0" tIns="0" rIns="0" bIns="0" rtlCol="0" anchor="t"/>
          <a:lstStyle/>
          <a:p>
            <a:pPr marL="0" indent="0">
              <a:buNone/>
            </a:pPr>
            <a:r>
              <a:rPr lang="en-US" sz="1700" b="1" dirty="0">
                <a:solidFill>
                  <a:schemeClr val="tx1"/>
                </a:solidFill>
              </a:rPr>
              <a:t>Kho ảnh Wikimedia Commons</a:t>
            </a:r>
            <a:endParaRPr lang="en-US" sz="1700" dirty="0"/>
          </a:p>
        </p:txBody>
      </p:sp>
      <p:sp>
        <p:nvSpPr>
          <p:cNvPr id="7" name="txt-5"/>
          <p:cNvSpPr txBox="1"/>
          <p:nvPr/>
        </p:nvSpPr>
        <p:spPr>
          <a:xfrm>
            <a:off x="731520" y="224028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Hàng nghìn ảnh đình, chùa, tháp Chăm, lăng tẩm, nhà phố cổ</a:t>
            </a:r>
            <a:endParaRPr lang="en-US" sz="1500" dirty="0"/>
          </a:p>
          <a:p>
            <a:pPr marL="342900" indent="-342900">
              <a:spcAft>
                <a:spcPts val="800"/>
              </a:spcAft>
              <a:buSzPct val="100000"/>
              <a:buChar char="•"/>
            </a:pPr>
            <a:r>
              <a:rPr lang="en-US" sz="1500" dirty="0">
                <a:solidFill>
                  <a:schemeClr val="tx1"/>
                </a:solidFill>
              </a:rPr>
              <a:t>Mô tả do người tải lên tự viết: thường thiếu, chỉ có tên địa danh, lẫn nhiều thứ tiếng</a:t>
            </a:r>
            <a:endParaRPr lang="en-US" sz="1500" dirty="0"/>
          </a:p>
          <a:p>
            <a:pPr marL="342900" indent="-342900">
              <a:spcAft>
                <a:spcPts val="800"/>
              </a:spcAft>
              <a:buSzPct val="100000"/>
              <a:buChar char="•"/>
            </a:pPr>
            <a:r>
              <a:rPr lang="en-US" sz="1500" dirty="0">
                <a:solidFill>
                  <a:schemeClr val="tx1"/>
                </a:solidFill>
              </a:rPr>
              <a:t>Chỉ tìm được theo tên tệp hoặc danh mục</a:t>
            </a:r>
            <a:endParaRPr lang="en-US" sz="1500" dirty="0"/>
          </a:p>
        </p:txBody>
      </p:sp>
      <p:sp>
        <p:nvSpPr>
          <p:cNvPr id="8" name="card-6"/>
          <p:cNvSpPr/>
          <p:nvPr/>
        </p:nvSpPr>
        <p:spPr>
          <a:xfrm>
            <a:off x="4754880" y="1234440"/>
            <a:ext cx="3931920" cy="3200400"/>
          </a:xfrm>
          <a:prstGeom prst="roundRect">
            <a:avLst>
              <a:gd name="adj" fmla="val 3429"/>
            </a:avLst>
          </a:prstGeom>
          <a:solidFill>
            <a:schemeClr val="tx1"/>
          </a:solidFill>
          <a:ln w="12700">
            <a:solidFill>
              <a:schemeClr val="tx1"/>
            </a:solidFill>
            <a:prstDash val="solid"/>
          </a:ln>
        </p:spPr>
      </p:sp>
      <p:sp>
        <p:nvSpPr>
          <p:cNvPr id="9" name="badge-7"/>
          <p:cNvSpPr/>
          <p:nvPr/>
        </p:nvSpPr>
        <p:spPr>
          <a:xfrm>
            <a:off x="5029200" y="1508760"/>
            <a:ext cx="548640" cy="548640"/>
          </a:xfrm>
          <a:prstGeom prst="ellipse">
            <a:avLst/>
          </a:prstGeom>
          <a:solidFill>
            <a:schemeClr val="accent2"/>
          </a:solidFill>
          <a:ln w="12700">
            <a:solidFill>
              <a:schemeClr val="accent2"/>
            </a:solidFill>
            <a:prstDash val="solid"/>
          </a:ln>
        </p:spPr>
      </p:sp>
      <p:pic>
        <p:nvPicPr>
          <p:cNvPr id="10" name="icon-8" descr="preencoded.png"/>
          <p:cNvPicPr>
            <a:picLocks noChangeAspect="1"/>
          </p:cNvPicPr>
          <p:nvPr/>
        </p:nvPicPr>
        <p:blipFill>
          <a:blip r:embed="rId4"/>
          <a:stretch>
            <a:fillRect/>
          </a:stretch>
        </p:blipFill>
        <p:spPr>
          <a:xfrm>
            <a:off x="5166360" y="1645920"/>
            <a:ext cx="274320" cy="274320"/>
          </a:xfrm>
          <a:prstGeom prst="rect">
            <a:avLst/>
          </a:prstGeom>
        </p:spPr>
      </p:pic>
      <p:sp>
        <p:nvSpPr>
          <p:cNvPr id="11" name="txt-9"/>
          <p:cNvSpPr txBox="1"/>
          <p:nvPr/>
        </p:nvSpPr>
        <p:spPr>
          <a:xfrm>
            <a:off x="5760720" y="1572768"/>
            <a:ext cx="2743200" cy="548640"/>
          </a:xfrm>
          <a:prstGeom prst="rect">
            <a:avLst/>
          </a:prstGeom>
          <a:noFill/>
          <a:ln/>
        </p:spPr>
        <p:txBody>
          <a:bodyPr wrap="square" lIns="0" tIns="0" rIns="0" bIns="0" rtlCol="0" anchor="t"/>
          <a:lstStyle/>
          <a:p>
            <a:pPr marL="0" indent="0">
              <a:buNone/>
            </a:pPr>
            <a:r>
              <a:rPr lang="en-US" sz="1700" b="1" dirty="0">
                <a:solidFill>
                  <a:schemeClr val="bg1"/>
                </a:solidFill>
              </a:rPr>
              <a:t>Người dùng muốn tìm theo nội dung</a:t>
            </a:r>
            <a:endParaRPr lang="en-US" sz="1700" dirty="0"/>
          </a:p>
        </p:txBody>
      </p:sp>
      <p:sp>
        <p:nvSpPr>
          <p:cNvPr id="12" name="txt-10"/>
          <p:cNvSpPr txBox="1"/>
          <p:nvPr/>
        </p:nvSpPr>
        <p:spPr>
          <a:xfrm>
            <a:off x="5029200" y="2377440"/>
            <a:ext cx="3474720" cy="457200"/>
          </a:xfrm>
          <a:prstGeom prst="rect">
            <a:avLst/>
          </a:prstGeom>
          <a:noFill/>
          <a:ln/>
        </p:spPr>
        <p:txBody>
          <a:bodyPr wrap="square" lIns="0" tIns="0" rIns="0" bIns="0" rtlCol="0" anchor="t"/>
          <a:lstStyle/>
          <a:p>
            <a:pPr marL="0" indent="0">
              <a:buNone/>
            </a:pPr>
            <a:r>
              <a:rPr lang="en-US" sz="1600" i="1" dirty="0">
                <a:solidFill>
                  <a:schemeClr val="accent6"/>
                </a:solidFill>
              </a:rPr>
              <a:t>“cổng chùa có tượng rồng trên mái”</a:t>
            </a:r>
            <a:endParaRPr lang="en-US" sz="1600" dirty="0"/>
          </a:p>
        </p:txBody>
      </p:sp>
      <p:sp>
        <p:nvSpPr>
          <p:cNvPr id="13" name="txt-11"/>
          <p:cNvSpPr txBox="1"/>
          <p:nvPr/>
        </p:nvSpPr>
        <p:spPr>
          <a:xfrm>
            <a:off x="5029200" y="2880360"/>
            <a:ext cx="3474720" cy="457200"/>
          </a:xfrm>
          <a:prstGeom prst="rect">
            <a:avLst/>
          </a:prstGeom>
          <a:noFill/>
          <a:ln/>
        </p:spPr>
        <p:txBody>
          <a:bodyPr wrap="square" lIns="0" tIns="0" rIns="0" bIns="0" rtlCol="0" anchor="t"/>
          <a:lstStyle/>
          <a:p>
            <a:pPr marL="0" indent="0">
              <a:buNone/>
            </a:pPr>
            <a:r>
              <a:rPr lang="en-US" sz="1600" i="1" dirty="0">
                <a:solidFill>
                  <a:schemeClr val="accent6"/>
                </a:solidFill>
              </a:rPr>
              <a:t>“tháp gạch đỏ có mái nhiều tầng”</a:t>
            </a:r>
            <a:endParaRPr lang="en-US" sz="1600" dirty="0"/>
          </a:p>
        </p:txBody>
      </p:sp>
      <p:sp>
        <p:nvSpPr>
          <p:cNvPr id="14" name="txt-12"/>
          <p:cNvSpPr txBox="1"/>
          <p:nvPr/>
        </p:nvSpPr>
        <p:spPr>
          <a:xfrm>
            <a:off x="5029200" y="3474720"/>
            <a:ext cx="3474720" cy="822960"/>
          </a:xfrm>
          <a:prstGeom prst="rect">
            <a:avLst/>
          </a:prstGeom>
          <a:noFill/>
          <a:ln/>
        </p:spPr>
        <p:txBody>
          <a:bodyPr wrap="square" lIns="0" tIns="0" rIns="0" bIns="0" rtlCol="0" anchor="t"/>
          <a:lstStyle/>
          <a:p>
            <a:pPr marL="0" indent="0">
              <a:buNone/>
            </a:pPr>
            <a:r>
              <a:rPr lang="en-US" sz="1400" dirty="0">
                <a:solidFill>
                  <a:schemeClr val="bg1"/>
                </a:solidFill>
              </a:rPr>
              <a:t>Những câu như vậy không khớp với tên tệp, nên tìm theo cách cũ gần như không ra kết quả.</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Hệ thống làm được gì</a:t>
            </a:r>
            <a:endParaRPr lang="en-US" sz="2800" dirty="0"/>
          </a:p>
        </p:txBody>
      </p:sp>
      <p:sp>
        <p:nvSpPr>
          <p:cNvPr id="3" name="card-13"/>
          <p:cNvSpPr/>
          <p:nvPr/>
        </p:nvSpPr>
        <p:spPr>
          <a:xfrm>
            <a:off x="457200" y="1325880"/>
            <a:ext cx="2560320" cy="2926080"/>
          </a:xfrm>
          <a:prstGeom prst="roundRect">
            <a:avLst>
              <a:gd name="adj" fmla="val 4286"/>
            </a:avLst>
          </a:prstGeom>
          <a:solidFill>
            <a:schemeClr val="bg2"/>
          </a:solidFill>
          <a:ln w="12700">
            <a:solidFill>
              <a:schemeClr val="bg2"/>
            </a:solidFill>
            <a:prstDash val="solid"/>
          </a:ln>
        </p:spPr>
      </p:sp>
      <p:sp>
        <p:nvSpPr>
          <p:cNvPr id="4" name="badge-14"/>
          <p:cNvSpPr/>
          <p:nvPr/>
        </p:nvSpPr>
        <p:spPr>
          <a:xfrm>
            <a:off x="731520" y="1600200"/>
            <a:ext cx="640080" cy="640080"/>
          </a:xfrm>
          <a:prstGeom prst="ellipse">
            <a:avLst/>
          </a:prstGeom>
          <a:solidFill>
            <a:schemeClr val="accent1"/>
          </a:solidFill>
          <a:ln w="12700">
            <a:solidFill>
              <a:schemeClr val="accent1"/>
            </a:solidFill>
            <a:prstDash val="solid"/>
          </a:ln>
        </p:spPr>
      </p:sp>
      <p:pic>
        <p:nvPicPr>
          <p:cNvPr id="5" name="icon-15" descr="preencoded.png"/>
          <p:cNvPicPr>
            <a:picLocks noChangeAspect="1"/>
          </p:cNvPicPr>
          <p:nvPr/>
        </p:nvPicPr>
        <p:blipFill>
          <a:blip r:embed="rId3"/>
          <a:stretch>
            <a:fillRect/>
          </a:stretch>
        </p:blipFill>
        <p:spPr>
          <a:xfrm>
            <a:off x="891540" y="1760220"/>
            <a:ext cx="320040" cy="320040"/>
          </a:xfrm>
          <a:prstGeom prst="rect">
            <a:avLst/>
          </a:prstGeom>
        </p:spPr>
      </p:pic>
      <p:sp>
        <p:nvSpPr>
          <p:cNvPr id="6" name="txt-16"/>
          <p:cNvSpPr txBox="1"/>
          <p:nvPr/>
        </p:nvSpPr>
        <p:spPr>
          <a:xfrm>
            <a:off x="731520" y="2423160"/>
            <a:ext cx="2103120" cy="457200"/>
          </a:xfrm>
          <a:prstGeom prst="rect">
            <a:avLst/>
          </a:prstGeom>
          <a:noFill/>
          <a:ln/>
        </p:spPr>
        <p:txBody>
          <a:bodyPr wrap="square" lIns="0" tIns="0" rIns="0" bIns="0" rtlCol="0" anchor="t"/>
          <a:lstStyle/>
          <a:p>
            <a:pPr marL="0" indent="0">
              <a:buNone/>
            </a:pPr>
            <a:r>
              <a:rPr lang="en-US" sz="1800" b="1" dirty="0">
                <a:solidFill>
                  <a:schemeClr val="tx1"/>
                </a:solidFill>
              </a:rPr>
              <a:t>Tìm bằng lời mô tả</a:t>
            </a:r>
            <a:endParaRPr lang="en-US" sz="1800" dirty="0"/>
          </a:p>
        </p:txBody>
      </p:sp>
      <p:sp>
        <p:nvSpPr>
          <p:cNvPr id="7" name="txt-17"/>
          <p:cNvSpPr txBox="1"/>
          <p:nvPr/>
        </p:nvSpPr>
        <p:spPr>
          <a:xfrm>
            <a:off x="731520" y="2926080"/>
            <a:ext cx="2103120" cy="1188720"/>
          </a:xfrm>
          <a:prstGeom prst="rect">
            <a:avLst/>
          </a:prstGeom>
          <a:noFill/>
          <a:ln/>
        </p:spPr>
        <p:txBody>
          <a:bodyPr wrap="square" lIns="0" tIns="0" rIns="0" bIns="0" rtlCol="0" anchor="t"/>
          <a:lstStyle/>
          <a:p>
            <a:pPr marL="0" indent="0">
              <a:buNone/>
            </a:pPr>
            <a:r>
              <a:rPr lang="en-US" sz="1400" dirty="0">
                <a:solidFill>
                  <a:srgbClr val="5B676A"/>
                </a:solidFill>
              </a:rPr>
              <a:t>Gõ một câu tiếng Anh mô tả điều muốn thấy, hệ thống trả về các ảnh khớp nhất.</a:t>
            </a:r>
            <a:endParaRPr lang="en-US" sz="1400" dirty="0"/>
          </a:p>
        </p:txBody>
      </p:sp>
      <p:sp>
        <p:nvSpPr>
          <p:cNvPr id="8" name="card-18"/>
          <p:cNvSpPr/>
          <p:nvPr/>
        </p:nvSpPr>
        <p:spPr>
          <a:xfrm>
            <a:off x="3291840" y="1325880"/>
            <a:ext cx="2560320" cy="2926080"/>
          </a:xfrm>
          <a:prstGeom prst="roundRect">
            <a:avLst>
              <a:gd name="adj" fmla="val 4286"/>
            </a:avLst>
          </a:prstGeom>
          <a:solidFill>
            <a:schemeClr val="bg2"/>
          </a:solidFill>
          <a:ln w="12700">
            <a:solidFill>
              <a:schemeClr val="bg2"/>
            </a:solidFill>
            <a:prstDash val="solid"/>
          </a:ln>
        </p:spPr>
      </p:sp>
      <p:sp>
        <p:nvSpPr>
          <p:cNvPr id="9" name="badge-19"/>
          <p:cNvSpPr/>
          <p:nvPr/>
        </p:nvSpPr>
        <p:spPr>
          <a:xfrm>
            <a:off x="3566160" y="1600200"/>
            <a:ext cx="640080" cy="640080"/>
          </a:xfrm>
          <a:prstGeom prst="ellipse">
            <a:avLst/>
          </a:prstGeom>
          <a:solidFill>
            <a:schemeClr val="accent1"/>
          </a:solidFill>
          <a:ln w="12700">
            <a:solidFill>
              <a:schemeClr val="accent1"/>
            </a:solidFill>
            <a:prstDash val="solid"/>
          </a:ln>
        </p:spPr>
      </p:sp>
      <p:pic>
        <p:nvPicPr>
          <p:cNvPr id="10" name="icon-20" descr="preencoded.png"/>
          <p:cNvPicPr>
            <a:picLocks noChangeAspect="1"/>
          </p:cNvPicPr>
          <p:nvPr/>
        </p:nvPicPr>
        <p:blipFill>
          <a:blip r:embed="rId4"/>
          <a:stretch>
            <a:fillRect/>
          </a:stretch>
        </p:blipFill>
        <p:spPr>
          <a:xfrm>
            <a:off x="3726180" y="1760220"/>
            <a:ext cx="320040" cy="320040"/>
          </a:xfrm>
          <a:prstGeom prst="rect">
            <a:avLst/>
          </a:prstGeom>
        </p:spPr>
      </p:pic>
      <p:sp>
        <p:nvSpPr>
          <p:cNvPr id="11" name="txt-21"/>
          <p:cNvSpPr txBox="1"/>
          <p:nvPr/>
        </p:nvSpPr>
        <p:spPr>
          <a:xfrm>
            <a:off x="3566160" y="2423160"/>
            <a:ext cx="2103120" cy="457200"/>
          </a:xfrm>
          <a:prstGeom prst="rect">
            <a:avLst/>
          </a:prstGeom>
          <a:noFill/>
          <a:ln/>
        </p:spPr>
        <p:txBody>
          <a:bodyPr wrap="square" lIns="0" tIns="0" rIns="0" bIns="0" rtlCol="0" anchor="t"/>
          <a:lstStyle/>
          <a:p>
            <a:pPr marL="0" indent="0">
              <a:buNone/>
            </a:pPr>
            <a:r>
              <a:rPr lang="en-US" sz="1800" b="1" dirty="0">
                <a:solidFill>
                  <a:schemeClr val="tx1"/>
                </a:solidFill>
              </a:rPr>
              <a:t>Tìm bằng ảnh mẫu</a:t>
            </a:r>
            <a:endParaRPr lang="en-US" sz="1800" dirty="0"/>
          </a:p>
        </p:txBody>
      </p:sp>
      <p:sp>
        <p:nvSpPr>
          <p:cNvPr id="12" name="txt-22"/>
          <p:cNvSpPr txBox="1"/>
          <p:nvPr/>
        </p:nvSpPr>
        <p:spPr>
          <a:xfrm>
            <a:off x="3566160" y="2926080"/>
            <a:ext cx="2103120" cy="1188720"/>
          </a:xfrm>
          <a:prstGeom prst="rect">
            <a:avLst/>
          </a:prstGeom>
          <a:noFill/>
          <a:ln/>
        </p:spPr>
        <p:txBody>
          <a:bodyPr wrap="square" lIns="0" tIns="0" rIns="0" bIns="0" rtlCol="0" anchor="t"/>
          <a:lstStyle/>
          <a:p>
            <a:pPr marL="0" indent="0">
              <a:buNone/>
            </a:pPr>
            <a:r>
              <a:rPr lang="en-US" sz="1400" dirty="0">
                <a:solidFill>
                  <a:srgbClr val="5B676A"/>
                </a:solidFill>
              </a:rPr>
              <a:t>Kéo thả hoặc dán một tấm ảnh, hệ thống tìm các ảnh có nội dung giống.</a:t>
            </a:r>
            <a:endParaRPr lang="en-US" sz="1400" dirty="0"/>
          </a:p>
        </p:txBody>
      </p:sp>
      <p:sp>
        <p:nvSpPr>
          <p:cNvPr id="13" name="card-23"/>
          <p:cNvSpPr/>
          <p:nvPr/>
        </p:nvSpPr>
        <p:spPr>
          <a:xfrm>
            <a:off x="6126480" y="1325880"/>
            <a:ext cx="2560320" cy="2926080"/>
          </a:xfrm>
          <a:prstGeom prst="roundRect">
            <a:avLst>
              <a:gd name="adj" fmla="val 4286"/>
            </a:avLst>
          </a:prstGeom>
          <a:solidFill>
            <a:schemeClr val="bg2"/>
          </a:solidFill>
          <a:ln w="12700">
            <a:solidFill>
              <a:schemeClr val="bg2"/>
            </a:solidFill>
            <a:prstDash val="solid"/>
          </a:ln>
        </p:spPr>
      </p:sp>
      <p:sp>
        <p:nvSpPr>
          <p:cNvPr id="14" name="badge-24"/>
          <p:cNvSpPr/>
          <p:nvPr/>
        </p:nvSpPr>
        <p:spPr>
          <a:xfrm>
            <a:off x="6400800" y="1600200"/>
            <a:ext cx="640080" cy="640080"/>
          </a:xfrm>
          <a:prstGeom prst="ellipse">
            <a:avLst/>
          </a:prstGeom>
          <a:solidFill>
            <a:schemeClr val="accent1"/>
          </a:solidFill>
          <a:ln w="12700">
            <a:solidFill>
              <a:schemeClr val="accent1"/>
            </a:solidFill>
            <a:prstDash val="solid"/>
          </a:ln>
        </p:spPr>
      </p:sp>
      <p:pic>
        <p:nvPicPr>
          <p:cNvPr id="15" name="icon-25" descr="preencoded.png"/>
          <p:cNvPicPr>
            <a:picLocks noChangeAspect="1"/>
          </p:cNvPicPr>
          <p:nvPr/>
        </p:nvPicPr>
        <p:blipFill>
          <a:blip r:embed="rId5"/>
          <a:stretch>
            <a:fillRect/>
          </a:stretch>
        </p:blipFill>
        <p:spPr>
          <a:xfrm>
            <a:off x="6560820" y="1760220"/>
            <a:ext cx="320040" cy="320040"/>
          </a:xfrm>
          <a:prstGeom prst="rect">
            <a:avLst/>
          </a:prstGeom>
        </p:spPr>
      </p:pic>
      <p:sp>
        <p:nvSpPr>
          <p:cNvPr id="16" name="txt-26"/>
          <p:cNvSpPr txBox="1"/>
          <p:nvPr/>
        </p:nvSpPr>
        <p:spPr>
          <a:xfrm>
            <a:off x="6400800" y="2423160"/>
            <a:ext cx="2103120" cy="457200"/>
          </a:xfrm>
          <a:prstGeom prst="rect">
            <a:avLst/>
          </a:prstGeom>
          <a:noFill/>
          <a:ln/>
        </p:spPr>
        <p:txBody>
          <a:bodyPr wrap="square" lIns="0" tIns="0" rIns="0" bIns="0" rtlCol="0" anchor="t"/>
          <a:lstStyle/>
          <a:p>
            <a:pPr marL="0" indent="0">
              <a:buNone/>
            </a:pPr>
            <a:r>
              <a:rPr lang="en-US" sz="1800" b="1" dirty="0">
                <a:solidFill>
                  <a:schemeClr val="tx1"/>
                </a:solidFill>
              </a:rPr>
              <a:t>Thêm ảnh mới</a:t>
            </a:r>
            <a:endParaRPr lang="en-US" sz="1800" dirty="0"/>
          </a:p>
        </p:txBody>
      </p:sp>
      <p:sp>
        <p:nvSpPr>
          <p:cNvPr id="17" name="txt-27"/>
          <p:cNvSpPr txBox="1"/>
          <p:nvPr/>
        </p:nvSpPr>
        <p:spPr>
          <a:xfrm>
            <a:off x="6400800" y="2926080"/>
            <a:ext cx="2103120" cy="1188720"/>
          </a:xfrm>
          <a:prstGeom prst="rect">
            <a:avLst/>
          </a:prstGeom>
          <a:noFill/>
          <a:ln/>
        </p:spPr>
        <p:txBody>
          <a:bodyPr wrap="square" lIns="0" tIns="0" rIns="0" bIns="0" rtlCol="0" anchor="t"/>
          <a:lstStyle/>
          <a:p>
            <a:pPr marL="0" indent="0">
              <a:buNone/>
            </a:pPr>
            <a:r>
              <a:rPr lang="en-US" sz="1400" dirty="0">
                <a:solidFill>
                  <a:srgbClr val="5B676A"/>
                </a:solidFill>
              </a:rPr>
              <a:t>Tải ảnh lên kèm mô tả; ảnh được đưa vào kho và tìm được ngay.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Bốn bước thực hiện</a:t>
            </a:r>
            <a:endParaRPr lang="en-US" sz="2800" dirty="0"/>
          </a:p>
        </p:txBody>
      </p:sp>
      <p:sp>
        <p:nvSpPr>
          <p:cNvPr id="3" name="badge-28"/>
          <p:cNvSpPr/>
          <p:nvPr/>
        </p:nvSpPr>
        <p:spPr>
          <a:xfrm>
            <a:off x="960120" y="1463040"/>
            <a:ext cx="822960" cy="822960"/>
          </a:xfrm>
          <a:prstGeom prst="ellipse">
            <a:avLst/>
          </a:prstGeom>
          <a:solidFill>
            <a:schemeClr val="accent1"/>
          </a:solidFill>
          <a:ln w="12700">
            <a:solidFill>
              <a:schemeClr val="accent1"/>
            </a:solidFill>
            <a:prstDash val="solid"/>
          </a:ln>
        </p:spPr>
      </p:sp>
      <p:pic>
        <p:nvPicPr>
          <p:cNvPr id="4" name="icon-29" descr="preencoded.png"/>
          <p:cNvPicPr>
            <a:picLocks noChangeAspect="1"/>
          </p:cNvPicPr>
          <p:nvPr/>
        </p:nvPicPr>
        <p:blipFill>
          <a:blip r:embed="rId3"/>
          <a:stretch>
            <a:fillRect/>
          </a:stretch>
        </p:blipFill>
        <p:spPr>
          <a:xfrm>
            <a:off x="1165860" y="1668780"/>
            <a:ext cx="411480" cy="411480"/>
          </a:xfrm>
          <a:prstGeom prst="rect">
            <a:avLst/>
          </a:prstGeom>
        </p:spPr>
      </p:pic>
      <p:sp>
        <p:nvSpPr>
          <p:cNvPr id="5" name="txt-30"/>
          <p:cNvSpPr txBox="1"/>
          <p:nvPr/>
        </p:nvSpPr>
        <p:spPr>
          <a:xfrm>
            <a:off x="457200" y="2514600"/>
            <a:ext cx="1828800" cy="411480"/>
          </a:xfrm>
          <a:prstGeom prst="rect">
            <a:avLst/>
          </a:prstGeom>
          <a:noFill/>
          <a:ln/>
        </p:spPr>
        <p:txBody>
          <a:bodyPr wrap="square" lIns="0" tIns="0" rIns="0" bIns="0" rtlCol="0" anchor="t"/>
          <a:lstStyle/>
          <a:p>
            <a:pPr marL="0" indent="0" algn="ctr">
              <a:buNone/>
            </a:pPr>
            <a:r>
              <a:rPr lang="en-US" sz="1700" b="1" dirty="0">
                <a:solidFill>
                  <a:schemeClr val="tx1"/>
                </a:solidFill>
              </a:rPr>
              <a:t>1. Thu thập ảnh</a:t>
            </a:r>
            <a:endParaRPr lang="en-US" sz="1700" dirty="0"/>
          </a:p>
        </p:txBody>
      </p:sp>
      <p:sp>
        <p:nvSpPr>
          <p:cNvPr id="6" name="txt-31"/>
          <p:cNvSpPr txBox="1"/>
          <p:nvPr/>
        </p:nvSpPr>
        <p:spPr>
          <a:xfrm>
            <a:off x="457200" y="2971800"/>
            <a:ext cx="1828800" cy="822960"/>
          </a:xfrm>
          <a:prstGeom prst="rect">
            <a:avLst/>
          </a:prstGeom>
          <a:noFill/>
          <a:ln/>
        </p:spPr>
        <p:txBody>
          <a:bodyPr wrap="square" lIns="0" tIns="0" rIns="0" bIns="0" rtlCol="0" anchor="t"/>
          <a:lstStyle/>
          <a:p>
            <a:pPr marL="0" indent="0" algn="ctr">
              <a:buNone/>
            </a:pPr>
            <a:r>
              <a:rPr lang="en-US" sz="1400" dirty="0">
                <a:solidFill>
                  <a:srgbClr val="5B676A"/>
                </a:solidFill>
              </a:rPr>
              <a:t>Tải và làm sạch ảnh từ Wikimedia Commons</a:t>
            </a:r>
            <a:endParaRPr lang="en-US" sz="1400" dirty="0"/>
          </a:p>
        </p:txBody>
      </p:sp>
      <p:sp>
        <p:nvSpPr>
          <p:cNvPr id="7" name="arrow-32"/>
          <p:cNvSpPr/>
          <p:nvPr/>
        </p:nvSpPr>
        <p:spPr>
          <a:xfrm>
            <a:off x="1965960" y="1737360"/>
            <a:ext cx="457200" cy="274320"/>
          </a:xfrm>
          <a:prstGeom prst="rightArrow">
            <a:avLst/>
          </a:prstGeom>
          <a:solidFill>
            <a:schemeClr val="accent5"/>
          </a:solidFill>
          <a:ln w="12700">
            <a:solidFill>
              <a:schemeClr val="accent5"/>
            </a:solidFill>
            <a:prstDash val="solid"/>
          </a:ln>
        </p:spPr>
      </p:sp>
      <p:sp>
        <p:nvSpPr>
          <p:cNvPr id="8" name="badge-33"/>
          <p:cNvSpPr/>
          <p:nvPr/>
        </p:nvSpPr>
        <p:spPr>
          <a:xfrm>
            <a:off x="3063240" y="1463040"/>
            <a:ext cx="822960" cy="822960"/>
          </a:xfrm>
          <a:prstGeom prst="ellipse">
            <a:avLst/>
          </a:prstGeom>
          <a:solidFill>
            <a:schemeClr val="accent1"/>
          </a:solidFill>
          <a:ln w="12700">
            <a:solidFill>
              <a:schemeClr val="accent1"/>
            </a:solidFill>
            <a:prstDash val="solid"/>
          </a:ln>
        </p:spPr>
      </p:sp>
      <p:pic>
        <p:nvPicPr>
          <p:cNvPr id="9" name="icon-34" descr="preencoded.png"/>
          <p:cNvPicPr>
            <a:picLocks noChangeAspect="1"/>
          </p:cNvPicPr>
          <p:nvPr/>
        </p:nvPicPr>
        <p:blipFill>
          <a:blip r:embed="rId4"/>
          <a:stretch>
            <a:fillRect/>
          </a:stretch>
        </p:blipFill>
        <p:spPr>
          <a:xfrm>
            <a:off x="3268980" y="1668780"/>
            <a:ext cx="411480" cy="411480"/>
          </a:xfrm>
          <a:prstGeom prst="rect">
            <a:avLst/>
          </a:prstGeom>
        </p:spPr>
      </p:pic>
      <p:sp>
        <p:nvSpPr>
          <p:cNvPr id="10" name="txt-35"/>
          <p:cNvSpPr txBox="1"/>
          <p:nvPr/>
        </p:nvSpPr>
        <p:spPr>
          <a:xfrm>
            <a:off x="2560320" y="2514600"/>
            <a:ext cx="1828800" cy="411480"/>
          </a:xfrm>
          <a:prstGeom prst="rect">
            <a:avLst/>
          </a:prstGeom>
          <a:noFill/>
          <a:ln/>
        </p:spPr>
        <p:txBody>
          <a:bodyPr wrap="square" lIns="0" tIns="0" rIns="0" bIns="0" rtlCol="0" anchor="t"/>
          <a:lstStyle/>
          <a:p>
            <a:pPr marL="0" indent="0" algn="ctr">
              <a:buNone/>
            </a:pPr>
            <a:r>
              <a:rPr lang="en-US" sz="1700" b="1" dirty="0">
                <a:solidFill>
                  <a:schemeClr val="tx1"/>
                </a:solidFill>
              </a:rPr>
              <a:t>2. Viết mô tả</a:t>
            </a:r>
            <a:endParaRPr lang="en-US" sz="1700" dirty="0"/>
          </a:p>
        </p:txBody>
      </p:sp>
      <p:sp>
        <p:nvSpPr>
          <p:cNvPr id="11" name="txt-36"/>
          <p:cNvSpPr txBox="1"/>
          <p:nvPr/>
        </p:nvSpPr>
        <p:spPr>
          <a:xfrm>
            <a:off x="2560320" y="2971800"/>
            <a:ext cx="1828800" cy="822960"/>
          </a:xfrm>
          <a:prstGeom prst="rect">
            <a:avLst/>
          </a:prstGeom>
          <a:noFill/>
          <a:ln/>
        </p:spPr>
        <p:txBody>
          <a:bodyPr wrap="square" lIns="0" tIns="0" rIns="0" bIns="0" rtlCol="0" anchor="t"/>
          <a:lstStyle/>
          <a:p>
            <a:pPr marL="0" indent="0" algn="ctr">
              <a:buNone/>
            </a:pPr>
            <a:r>
              <a:rPr lang="en-US" sz="1400" dirty="0">
                <a:solidFill>
                  <a:srgbClr val="5B676A"/>
                </a:solidFill>
              </a:rPr>
              <a:t>Hai AI cùng mô tả mỗi ảnh, kiểm tra chéo</a:t>
            </a:r>
            <a:endParaRPr lang="en-US" sz="1400" dirty="0"/>
          </a:p>
        </p:txBody>
      </p:sp>
      <p:sp>
        <p:nvSpPr>
          <p:cNvPr id="12" name="arrow-37"/>
          <p:cNvSpPr/>
          <p:nvPr/>
        </p:nvSpPr>
        <p:spPr>
          <a:xfrm>
            <a:off x="4069080" y="1737360"/>
            <a:ext cx="457200" cy="274320"/>
          </a:xfrm>
          <a:prstGeom prst="rightArrow">
            <a:avLst/>
          </a:prstGeom>
          <a:solidFill>
            <a:schemeClr val="accent5"/>
          </a:solidFill>
          <a:ln w="12700">
            <a:solidFill>
              <a:schemeClr val="accent5"/>
            </a:solidFill>
            <a:prstDash val="solid"/>
          </a:ln>
        </p:spPr>
      </p:sp>
      <p:sp>
        <p:nvSpPr>
          <p:cNvPr id="13" name="badge-38"/>
          <p:cNvSpPr/>
          <p:nvPr/>
        </p:nvSpPr>
        <p:spPr>
          <a:xfrm>
            <a:off x="5166360" y="1463040"/>
            <a:ext cx="822960" cy="822960"/>
          </a:xfrm>
          <a:prstGeom prst="ellipse">
            <a:avLst/>
          </a:prstGeom>
          <a:solidFill>
            <a:schemeClr val="accent2"/>
          </a:solidFill>
          <a:ln w="12700">
            <a:solidFill>
              <a:schemeClr val="accent2"/>
            </a:solidFill>
            <a:prstDash val="solid"/>
          </a:ln>
        </p:spPr>
      </p:sp>
      <p:pic>
        <p:nvPicPr>
          <p:cNvPr id="14" name="icon-39" descr="preencoded.png"/>
          <p:cNvPicPr>
            <a:picLocks noChangeAspect="1"/>
          </p:cNvPicPr>
          <p:nvPr/>
        </p:nvPicPr>
        <p:blipFill>
          <a:blip r:embed="rId5"/>
          <a:stretch>
            <a:fillRect/>
          </a:stretch>
        </p:blipFill>
        <p:spPr>
          <a:xfrm>
            <a:off x="5372100" y="1668780"/>
            <a:ext cx="411480" cy="411480"/>
          </a:xfrm>
          <a:prstGeom prst="rect">
            <a:avLst/>
          </a:prstGeom>
        </p:spPr>
      </p:pic>
      <p:sp>
        <p:nvSpPr>
          <p:cNvPr id="15" name="txt-40"/>
          <p:cNvSpPr txBox="1"/>
          <p:nvPr/>
        </p:nvSpPr>
        <p:spPr>
          <a:xfrm>
            <a:off x="4663440" y="2514600"/>
            <a:ext cx="1828800" cy="411480"/>
          </a:xfrm>
          <a:prstGeom prst="rect">
            <a:avLst/>
          </a:prstGeom>
          <a:noFill/>
          <a:ln/>
        </p:spPr>
        <p:txBody>
          <a:bodyPr wrap="square" lIns="0" tIns="0" rIns="0" bIns="0" rtlCol="0" anchor="t"/>
          <a:lstStyle/>
          <a:p>
            <a:pPr marL="0" indent="0" algn="ctr">
              <a:buNone/>
            </a:pPr>
            <a:r>
              <a:rPr lang="en-US" sz="1700" b="1" dirty="0">
                <a:solidFill>
                  <a:schemeClr val="tx1"/>
                </a:solidFill>
              </a:rPr>
              <a:t>3. Dạy lại CLIP</a:t>
            </a:r>
            <a:endParaRPr lang="en-US" sz="1700" dirty="0"/>
          </a:p>
        </p:txBody>
      </p:sp>
      <p:sp>
        <p:nvSpPr>
          <p:cNvPr id="16" name="txt-41"/>
          <p:cNvSpPr txBox="1"/>
          <p:nvPr/>
        </p:nvSpPr>
        <p:spPr>
          <a:xfrm>
            <a:off x="4663440" y="2971800"/>
            <a:ext cx="1828800" cy="822960"/>
          </a:xfrm>
          <a:prstGeom prst="rect">
            <a:avLst/>
          </a:prstGeom>
          <a:noFill/>
          <a:ln/>
        </p:spPr>
        <p:txBody>
          <a:bodyPr wrap="square" lIns="0" tIns="0" rIns="0" bIns="0" rtlCol="0" anchor="t"/>
          <a:lstStyle/>
          <a:p>
            <a:pPr marL="0" indent="0" algn="ctr">
              <a:buNone/>
            </a:pPr>
            <a:r>
              <a:rPr lang="en-US" sz="1400" dirty="0">
                <a:solidFill>
                  <a:srgbClr val="5B676A"/>
                </a:solidFill>
              </a:rPr>
              <a:t>Cho mô hình học trên ảnh kiến trúc Việt</a:t>
            </a:r>
            <a:endParaRPr lang="en-US" sz="1400" dirty="0"/>
          </a:p>
        </p:txBody>
      </p:sp>
      <p:sp>
        <p:nvSpPr>
          <p:cNvPr id="17" name="arrow-42"/>
          <p:cNvSpPr/>
          <p:nvPr/>
        </p:nvSpPr>
        <p:spPr>
          <a:xfrm>
            <a:off x="6172200" y="1737360"/>
            <a:ext cx="457200" cy="274320"/>
          </a:xfrm>
          <a:prstGeom prst="rightArrow">
            <a:avLst/>
          </a:prstGeom>
          <a:solidFill>
            <a:schemeClr val="accent5"/>
          </a:solidFill>
          <a:ln w="12700">
            <a:solidFill>
              <a:schemeClr val="accent5"/>
            </a:solidFill>
            <a:prstDash val="solid"/>
          </a:ln>
        </p:spPr>
      </p:sp>
      <p:sp>
        <p:nvSpPr>
          <p:cNvPr id="18" name="badge-43"/>
          <p:cNvSpPr/>
          <p:nvPr/>
        </p:nvSpPr>
        <p:spPr>
          <a:xfrm>
            <a:off x="7269480" y="1463040"/>
            <a:ext cx="822960" cy="822960"/>
          </a:xfrm>
          <a:prstGeom prst="ellipse">
            <a:avLst/>
          </a:prstGeom>
          <a:solidFill>
            <a:schemeClr val="accent1"/>
          </a:solidFill>
          <a:ln w="12700">
            <a:solidFill>
              <a:schemeClr val="accent1"/>
            </a:solidFill>
            <a:prstDash val="solid"/>
          </a:ln>
        </p:spPr>
      </p:sp>
      <p:pic>
        <p:nvPicPr>
          <p:cNvPr id="19" name="icon-44" descr="preencoded.png"/>
          <p:cNvPicPr>
            <a:picLocks noChangeAspect="1"/>
          </p:cNvPicPr>
          <p:nvPr/>
        </p:nvPicPr>
        <p:blipFill>
          <a:blip r:embed="rId6"/>
          <a:stretch>
            <a:fillRect/>
          </a:stretch>
        </p:blipFill>
        <p:spPr>
          <a:xfrm>
            <a:off x="7475220" y="1668780"/>
            <a:ext cx="411480" cy="411480"/>
          </a:xfrm>
          <a:prstGeom prst="rect">
            <a:avLst/>
          </a:prstGeom>
        </p:spPr>
      </p:pic>
      <p:sp>
        <p:nvSpPr>
          <p:cNvPr id="20" name="txt-45"/>
          <p:cNvSpPr txBox="1"/>
          <p:nvPr/>
        </p:nvSpPr>
        <p:spPr>
          <a:xfrm>
            <a:off x="6766560" y="2514600"/>
            <a:ext cx="1828800" cy="411480"/>
          </a:xfrm>
          <a:prstGeom prst="rect">
            <a:avLst/>
          </a:prstGeom>
          <a:noFill/>
          <a:ln/>
        </p:spPr>
        <p:txBody>
          <a:bodyPr wrap="square" lIns="0" tIns="0" rIns="0" bIns="0" rtlCol="0" anchor="t"/>
          <a:lstStyle/>
          <a:p>
            <a:pPr marL="0" indent="0" algn="ctr">
              <a:buNone/>
            </a:pPr>
            <a:r>
              <a:rPr lang="en-US" sz="1700" b="1" dirty="0">
                <a:solidFill>
                  <a:schemeClr val="tx1"/>
                </a:solidFill>
              </a:rPr>
              <a:t>4. Đưa vào hệ thống</a:t>
            </a:r>
            <a:endParaRPr lang="en-US" sz="1700" dirty="0"/>
          </a:p>
        </p:txBody>
      </p:sp>
      <p:sp>
        <p:nvSpPr>
          <p:cNvPr id="21" name="txt-46"/>
          <p:cNvSpPr txBox="1"/>
          <p:nvPr/>
        </p:nvSpPr>
        <p:spPr>
          <a:xfrm>
            <a:off x="6766560" y="2971800"/>
            <a:ext cx="1828800" cy="822960"/>
          </a:xfrm>
          <a:prstGeom prst="rect">
            <a:avLst/>
          </a:prstGeom>
          <a:noFill/>
          <a:ln/>
        </p:spPr>
        <p:txBody>
          <a:bodyPr wrap="square" lIns="0" tIns="0" rIns="0" bIns="0" rtlCol="0" anchor="t"/>
          <a:lstStyle/>
          <a:p>
            <a:pPr marL="0" indent="0" algn="ctr">
              <a:buNone/>
            </a:pPr>
            <a:r>
              <a:rPr lang="en-US" sz="1400" dirty="0">
                <a:solidFill>
                  <a:srgbClr val="5B676A"/>
                </a:solidFill>
              </a:rPr>
              <a:t>Web tìm kiếm cho người dùng</a:t>
            </a:r>
            <a:endParaRPr lang="en-US" sz="1400" dirty="0"/>
          </a:p>
        </p:txBody>
      </p:sp>
      <p:sp>
        <p:nvSpPr>
          <p:cNvPr id="22" name="txt-47"/>
          <p:cNvSpPr txBox="1"/>
          <p:nvPr/>
        </p:nvSpPr>
        <p:spPr>
          <a:xfrm>
            <a:off x="457200" y="4114800"/>
            <a:ext cx="8229600" cy="365760"/>
          </a:xfrm>
          <a:prstGeom prst="rect">
            <a:avLst/>
          </a:prstGeom>
          <a:noFill/>
          <a:ln/>
        </p:spPr>
        <p:txBody>
          <a:bodyPr wrap="square" lIns="0" tIns="0" rIns="0" bIns="0" rtlCol="0" anchor="t"/>
          <a:lstStyle/>
          <a:p>
            <a:pPr marL="0" indent="0" algn="ctr">
              <a:buNone/>
            </a:pPr>
            <a:r>
              <a:rPr lang="en-US" sz="1400" i="1" dirty="0">
                <a:solidFill>
                  <a:schemeClr val="accent1"/>
                </a:solidFill>
              </a:rPr>
              <a:t>Bước 3 là phần chính của đề tài.</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Thu thập và làm sạch ảnh</a:t>
            </a:r>
            <a:endParaRPr lang="en-US" sz="2800" dirty="0"/>
          </a:p>
        </p:txBody>
      </p:sp>
      <p:sp>
        <p:nvSpPr>
          <p:cNvPr id="3" name="txt-48"/>
          <p:cNvSpPr txBox="1"/>
          <p:nvPr/>
        </p:nvSpPr>
        <p:spPr>
          <a:xfrm>
            <a:off x="457200" y="1371600"/>
            <a:ext cx="2560320" cy="68580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7.846</a:t>
            </a:r>
            <a:endParaRPr lang="en-US" sz="4000" dirty="0"/>
          </a:p>
        </p:txBody>
      </p:sp>
      <p:sp>
        <p:nvSpPr>
          <p:cNvPr id="4" name="txt-49"/>
          <p:cNvSpPr txBox="1"/>
          <p:nvPr/>
        </p:nvSpPr>
        <p:spPr>
          <a:xfrm>
            <a:off x="457200" y="2103120"/>
            <a:ext cx="2560320" cy="548640"/>
          </a:xfrm>
          <a:prstGeom prst="rect">
            <a:avLst/>
          </a:prstGeom>
          <a:noFill/>
          <a:ln/>
        </p:spPr>
        <p:txBody>
          <a:bodyPr wrap="square" lIns="0" tIns="0" rIns="0" bIns="0" rtlCol="0" anchor="t"/>
          <a:lstStyle/>
          <a:p>
            <a:pPr marL="0" indent="0">
              <a:buNone/>
            </a:pPr>
            <a:r>
              <a:rPr lang="en-US" sz="1300" dirty="0">
                <a:solidFill>
                  <a:srgbClr val="5B676A"/>
                </a:solidFill>
              </a:rPr>
              <a:t>ảnh tải về kèm thông tin (tác giả, giấy phép, danh mục, GPS)</a:t>
            </a:r>
            <a:endParaRPr lang="en-US" sz="1300" dirty="0"/>
          </a:p>
        </p:txBody>
      </p:sp>
      <p:sp>
        <p:nvSpPr>
          <p:cNvPr id="5" name="txt-50"/>
          <p:cNvSpPr txBox="1"/>
          <p:nvPr/>
        </p:nvSpPr>
        <p:spPr>
          <a:xfrm>
            <a:off x="3291840" y="1371600"/>
            <a:ext cx="2377440" cy="68580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84</a:t>
            </a:r>
            <a:endParaRPr lang="en-US" sz="4000" dirty="0"/>
          </a:p>
        </p:txBody>
      </p:sp>
      <p:sp>
        <p:nvSpPr>
          <p:cNvPr id="6" name="txt-51"/>
          <p:cNvSpPr txBox="1"/>
          <p:nvPr/>
        </p:nvSpPr>
        <p:spPr>
          <a:xfrm>
            <a:off x="3291840" y="2103120"/>
            <a:ext cx="2377440" cy="548640"/>
          </a:xfrm>
          <a:prstGeom prst="rect">
            <a:avLst/>
          </a:prstGeom>
          <a:noFill/>
          <a:ln/>
        </p:spPr>
        <p:txBody>
          <a:bodyPr wrap="square" lIns="0" tIns="0" rIns="0" bIns="0" rtlCol="0" anchor="t"/>
          <a:lstStyle/>
          <a:p>
            <a:pPr marL="0" indent="0">
              <a:buNone/>
            </a:pPr>
            <a:r>
              <a:rPr lang="en-US" sz="1300" dirty="0">
                <a:solidFill>
                  <a:srgbClr val="5B676A"/>
                </a:solidFill>
              </a:rPr>
              <a:t>ảnh bị loại: trùng nhau, quá nhỏ hoặc quá dài</a:t>
            </a:r>
            <a:endParaRPr lang="en-US" sz="1300" dirty="0"/>
          </a:p>
        </p:txBody>
      </p:sp>
      <p:sp>
        <p:nvSpPr>
          <p:cNvPr id="7" name="txt-52"/>
          <p:cNvSpPr txBox="1"/>
          <p:nvPr/>
        </p:nvSpPr>
        <p:spPr>
          <a:xfrm>
            <a:off x="6035040" y="1371600"/>
            <a:ext cx="2651760" cy="685800"/>
          </a:xfrm>
          <a:prstGeom prst="rect">
            <a:avLst/>
          </a:prstGeom>
          <a:noFill/>
          <a:ln/>
        </p:spPr>
        <p:txBody>
          <a:bodyPr wrap="square" lIns="0" tIns="0" rIns="0" bIns="0" rtlCol="0" anchor="t"/>
          <a:lstStyle/>
          <a:p>
            <a:pPr marL="0" indent="0">
              <a:buNone/>
            </a:pPr>
            <a:r>
              <a:rPr lang="en-US" sz="4000" b="1" dirty="0">
                <a:solidFill>
                  <a:schemeClr val="accent3"/>
                </a:solidFill>
                <a:latin typeface="Cambria" pitchFamily="34" charset="0"/>
                <a:ea typeface="Cambria" pitchFamily="34" charset="-122"/>
                <a:cs typeface="Cambria" pitchFamily="34" charset="-120"/>
              </a:rPr>
              <a:t>7.762</a:t>
            </a:r>
            <a:endParaRPr lang="en-US" sz="4000" dirty="0"/>
          </a:p>
        </p:txBody>
      </p:sp>
      <p:sp>
        <p:nvSpPr>
          <p:cNvPr id="8" name="txt-53"/>
          <p:cNvSpPr txBox="1"/>
          <p:nvPr/>
        </p:nvSpPr>
        <p:spPr>
          <a:xfrm>
            <a:off x="6035040" y="2103120"/>
            <a:ext cx="2651760" cy="548640"/>
          </a:xfrm>
          <a:prstGeom prst="rect">
            <a:avLst/>
          </a:prstGeom>
          <a:noFill/>
          <a:ln/>
        </p:spPr>
        <p:txBody>
          <a:bodyPr wrap="square" lIns="0" tIns="0" rIns="0" bIns="0" rtlCol="0" anchor="t"/>
          <a:lstStyle/>
          <a:p>
            <a:pPr marL="0" indent="0">
              <a:buNone/>
            </a:pPr>
            <a:r>
              <a:rPr lang="en-US" sz="1300" dirty="0">
                <a:solidFill>
                  <a:srgbClr val="5B676A"/>
                </a:solidFill>
              </a:rPr>
              <a:t>ảnh sạch dùng cho các bước sau</a:t>
            </a:r>
            <a:endParaRPr lang="en-US" sz="1300" dirty="0"/>
          </a:p>
        </p:txBody>
      </p:sp>
      <p:sp>
        <p:nvSpPr>
          <p:cNvPr id="9" name="card-54"/>
          <p:cNvSpPr/>
          <p:nvPr/>
        </p:nvSpPr>
        <p:spPr>
          <a:xfrm>
            <a:off x="457200" y="3063240"/>
            <a:ext cx="8229600" cy="1325880"/>
          </a:xfrm>
          <a:prstGeom prst="roundRect">
            <a:avLst>
              <a:gd name="adj" fmla="val 8276"/>
            </a:avLst>
          </a:prstGeom>
          <a:solidFill>
            <a:schemeClr val="bg2"/>
          </a:solidFill>
          <a:ln w="12700">
            <a:solidFill>
              <a:schemeClr val="bg2"/>
            </a:solidFill>
            <a:prstDash val="solid"/>
          </a:ln>
        </p:spPr>
      </p:sp>
      <p:sp>
        <p:nvSpPr>
          <p:cNvPr id="10" name="badge-55"/>
          <p:cNvSpPr/>
          <p:nvPr/>
        </p:nvSpPr>
        <p:spPr>
          <a:xfrm>
            <a:off x="731520" y="3383280"/>
            <a:ext cx="640080" cy="640080"/>
          </a:xfrm>
          <a:prstGeom prst="ellipse">
            <a:avLst/>
          </a:prstGeom>
          <a:solidFill>
            <a:schemeClr val="accent1"/>
          </a:solidFill>
          <a:ln w="12700">
            <a:solidFill>
              <a:schemeClr val="accent1"/>
            </a:solidFill>
            <a:prstDash val="solid"/>
          </a:ln>
        </p:spPr>
      </p:sp>
      <p:pic>
        <p:nvPicPr>
          <p:cNvPr id="11" name="icon-56" descr="preencoded.png"/>
          <p:cNvPicPr>
            <a:picLocks noChangeAspect="1"/>
          </p:cNvPicPr>
          <p:nvPr/>
        </p:nvPicPr>
        <p:blipFill>
          <a:blip r:embed="rId3"/>
          <a:stretch>
            <a:fillRect/>
          </a:stretch>
        </p:blipFill>
        <p:spPr>
          <a:xfrm>
            <a:off x="891540" y="3543300"/>
            <a:ext cx="320040" cy="320040"/>
          </a:xfrm>
          <a:prstGeom prst="rect">
            <a:avLst/>
          </a:prstGeom>
        </p:spPr>
      </p:pic>
      <p:sp>
        <p:nvSpPr>
          <p:cNvPr id="12" name="txt-57"/>
          <p:cNvSpPr txBox="1"/>
          <p:nvPr/>
        </p:nvSpPr>
        <p:spPr>
          <a:xfrm>
            <a:off x="1600200" y="3291840"/>
            <a:ext cx="6858000" cy="96012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Nguồn: </a:t>
            </a:r>
            <a:r>
              <a:rPr lang="en-US" sz="1400" dirty="0">
                <a:solidFill>
                  <a:schemeClr val="tx1"/>
                </a:solidFill>
              </a:rPr>
              <a:t>danh mục “Architecture of Vietnam” trên Wikimedia Commons, tất cả có giấy phép tự do.</a:t>
            </a:r>
            <a:endParaRPr lang="en-US" sz="1400" dirty="0"/>
          </a:p>
          <a:p>
            <a:pPr marL="0" indent="0">
              <a:spcAft>
                <a:spcPts val="600"/>
              </a:spcAft>
              <a:buNone/>
            </a:pPr>
            <a:r>
              <a:rPr lang="en-US" sz="1400" b="1" dirty="0">
                <a:solidFill>
                  <a:schemeClr val="tx1"/>
                </a:solidFill>
              </a:rPr>
              <a:t>Lọc: </a:t>
            </a:r>
            <a:r>
              <a:rPr lang="en-US" sz="1400" dirty="0">
                <a:solidFill>
                  <a:schemeClr val="tx1"/>
                </a:solidFill>
              </a:rPr>
              <a:t>bỏ ảnh nhỏ hơn 224 px, ảnh toàn cảnh quá dài, và ảnh trùng (so bằng “dấu vân tay” của ảnh).</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Nhờ AI viết mô tả cho từng ảnh</a:t>
            </a:r>
            <a:endParaRPr lang="en-US" sz="2800" dirty="0"/>
          </a:p>
        </p:txBody>
      </p:sp>
      <p:sp>
        <p:nvSpPr>
          <p:cNvPr id="3" name="badge-58"/>
          <p:cNvSpPr/>
          <p:nvPr/>
        </p:nvSpPr>
        <p:spPr>
          <a:xfrm>
            <a:off x="457200" y="1280160"/>
            <a:ext cx="640080" cy="640080"/>
          </a:xfrm>
          <a:prstGeom prst="ellipse">
            <a:avLst/>
          </a:prstGeom>
          <a:solidFill>
            <a:schemeClr val="accent1"/>
          </a:solidFill>
          <a:ln w="12700">
            <a:solidFill>
              <a:schemeClr val="accent1"/>
            </a:solidFill>
            <a:prstDash val="solid"/>
          </a:ln>
        </p:spPr>
      </p:sp>
      <p:pic>
        <p:nvPicPr>
          <p:cNvPr id="4" name="icon-59" descr="preencoded.png"/>
          <p:cNvPicPr>
            <a:picLocks noChangeAspect="1"/>
          </p:cNvPicPr>
          <p:nvPr/>
        </p:nvPicPr>
        <p:blipFill>
          <a:blip r:embed="rId3"/>
          <a:stretch>
            <a:fillRect/>
          </a:stretch>
        </p:blipFill>
        <p:spPr>
          <a:xfrm>
            <a:off x="617220" y="1440180"/>
            <a:ext cx="320040" cy="320040"/>
          </a:xfrm>
          <a:prstGeom prst="rect">
            <a:avLst/>
          </a:prstGeom>
        </p:spPr>
      </p:pic>
      <p:sp>
        <p:nvSpPr>
          <p:cNvPr id="5" name="txt-60"/>
          <p:cNvSpPr txBox="1"/>
          <p:nvPr/>
        </p:nvSpPr>
        <p:spPr>
          <a:xfrm>
            <a:off x="1280160" y="1325880"/>
            <a:ext cx="3291840" cy="548640"/>
          </a:xfrm>
          <a:prstGeom prst="rect">
            <a:avLst/>
          </a:prstGeom>
          <a:noFill/>
          <a:ln/>
        </p:spPr>
        <p:txBody>
          <a:bodyPr wrap="square" lIns="0" tIns="0" rIns="0" bIns="0" rtlCol="0" anchor="t"/>
          <a:lstStyle/>
          <a:p>
            <a:pPr marL="0" indent="0">
              <a:buNone/>
            </a:pPr>
            <a:r>
              <a:rPr lang="en-US" sz="1700" b="1" dirty="0">
                <a:solidFill>
                  <a:schemeClr val="tx1"/>
                </a:solidFill>
              </a:rPr>
              <a:t>Hai mô hình AI đọc ảnh, chạy ngay trên máy</a:t>
            </a:r>
            <a:endParaRPr lang="en-US" sz="1700" dirty="0"/>
          </a:p>
        </p:txBody>
      </p:sp>
      <p:sp>
        <p:nvSpPr>
          <p:cNvPr id="6" name="txt-61"/>
          <p:cNvSpPr txBox="1"/>
          <p:nvPr/>
        </p:nvSpPr>
        <p:spPr>
          <a:xfrm>
            <a:off x="457200" y="2103120"/>
            <a:ext cx="40233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Qwen3.6 và Gemma 4, cùng một yêu cầu</a:t>
            </a:r>
            <a:endParaRPr lang="en-US" sz="1500" dirty="0"/>
          </a:p>
          <a:p>
            <a:pPr marL="342900" indent="-342900">
              <a:spcAft>
                <a:spcPts val="800"/>
              </a:spcAft>
              <a:buSzPct val="100000"/>
              <a:buChar char="•"/>
            </a:pPr>
            <a:r>
              <a:rPr lang="en-US" sz="1500" dirty="0">
                <a:solidFill>
                  <a:schemeClr val="tx1"/>
                </a:solidFill>
              </a:rPr>
              <a:t>Mô tả bằng tiếng Anh, 15–40 từ</a:t>
            </a:r>
            <a:endParaRPr lang="en-US" sz="1500" dirty="0"/>
          </a:p>
          <a:p>
            <a:pPr marL="342900" indent="-342900">
              <a:spcAft>
                <a:spcPts val="800"/>
              </a:spcAft>
              <a:buSzPct val="100000"/>
              <a:buChar char="•"/>
            </a:pPr>
            <a:r>
              <a:rPr lang="en-US" sz="1500" dirty="0">
                <a:solidFill>
                  <a:schemeClr val="tx1"/>
                </a:solidFill>
              </a:rPr>
              <a:t>Chỉ tả những gì nhìn thấy: loại công trình, mái, vật liệu, màu sắc</a:t>
            </a:r>
            <a:endParaRPr lang="en-US" sz="1500" dirty="0"/>
          </a:p>
          <a:p>
            <a:pPr marL="342900" indent="-342900">
              <a:spcAft>
                <a:spcPts val="800"/>
              </a:spcAft>
              <a:buSzPct val="100000"/>
              <a:buChar char="•"/>
            </a:pPr>
            <a:r>
              <a:rPr lang="en-US" sz="1500" dirty="0">
                <a:solidFill>
                  <a:schemeClr val="tx1"/>
                </a:solidFill>
              </a:rPr>
              <a:t>Không đoán tên hay địa điểm, vì đoán sai sẽ dạy sai cho mô hình</a:t>
            </a:r>
            <a:endParaRPr lang="en-US" sz="1500" dirty="0"/>
          </a:p>
        </p:txBody>
      </p:sp>
      <p:sp>
        <p:nvSpPr>
          <p:cNvPr id="7" name="card-62"/>
          <p:cNvSpPr/>
          <p:nvPr/>
        </p:nvSpPr>
        <p:spPr>
          <a:xfrm>
            <a:off x="4846320" y="1280160"/>
            <a:ext cx="3840480" cy="3108960"/>
          </a:xfrm>
          <a:prstGeom prst="roundRect">
            <a:avLst>
              <a:gd name="adj" fmla="val 3529"/>
            </a:avLst>
          </a:prstGeom>
          <a:solidFill>
            <a:schemeClr val="bg2"/>
          </a:solidFill>
          <a:ln w="12700">
            <a:solidFill>
              <a:schemeClr val="bg2"/>
            </a:solidFill>
            <a:prstDash val="solid"/>
          </a:ln>
        </p:spPr>
      </p:sp>
      <p:sp>
        <p:nvSpPr>
          <p:cNvPr id="8" name="txt-63"/>
          <p:cNvSpPr txBox="1"/>
          <p:nvPr/>
        </p:nvSpPr>
        <p:spPr>
          <a:xfrm>
            <a:off x="5120640" y="1463040"/>
            <a:ext cx="3291840" cy="365760"/>
          </a:xfrm>
          <a:prstGeom prst="rect">
            <a:avLst/>
          </a:prstGeom>
          <a:noFill/>
          <a:ln/>
        </p:spPr>
        <p:txBody>
          <a:bodyPr wrap="square" lIns="0" tIns="0" rIns="0" bIns="0" rtlCol="0" anchor="t"/>
          <a:lstStyle/>
          <a:p>
            <a:pPr marL="0" indent="0">
              <a:buNone/>
            </a:pPr>
            <a:r>
              <a:rPr lang="en-US" sz="1300" b="1" dirty="0">
                <a:solidFill>
                  <a:schemeClr val="accent1"/>
                </a:solidFill>
              </a:rPr>
              <a:t>Ví dụ một mô tả</a:t>
            </a:r>
            <a:endParaRPr lang="en-US" sz="1300" dirty="0"/>
          </a:p>
        </p:txBody>
      </p:sp>
      <p:sp>
        <p:nvSpPr>
          <p:cNvPr id="9" name="txt-64"/>
          <p:cNvSpPr txBox="1"/>
          <p:nvPr/>
        </p:nvSpPr>
        <p:spPr>
          <a:xfrm>
            <a:off x="5120640" y="1874520"/>
            <a:ext cx="3291840" cy="914400"/>
          </a:xfrm>
          <a:prstGeom prst="rect">
            <a:avLst/>
          </a:prstGeom>
          <a:noFill/>
          <a:ln/>
        </p:spPr>
        <p:txBody>
          <a:bodyPr wrap="square" lIns="0" tIns="0" rIns="0" bIns="0" rtlCol="0" anchor="t"/>
          <a:lstStyle/>
          <a:p>
            <a:pPr marL="0" indent="0">
              <a:buNone/>
            </a:pPr>
            <a:r>
              <a:rPr lang="en-US" sz="1500" i="1" dirty="0">
                <a:solidFill>
                  <a:schemeClr val="tx1"/>
                </a:solidFill>
              </a:rPr>
              <a:t>“A weathered brick tower with decorative carvings stands on a sandy bank…”</a:t>
            </a:r>
            <a:endParaRPr lang="en-US" sz="1500" dirty="0"/>
          </a:p>
        </p:txBody>
      </p:sp>
      <p:sp>
        <p:nvSpPr>
          <p:cNvPr id="10" name="txt-65"/>
          <p:cNvSpPr txBox="1"/>
          <p:nvPr/>
        </p:nvSpPr>
        <p:spPr>
          <a:xfrm>
            <a:off x="5120640" y="2926080"/>
            <a:ext cx="3291840" cy="731520"/>
          </a:xfrm>
          <a:prstGeom prst="rect">
            <a:avLst/>
          </a:prstGeom>
          <a:noFill/>
          <a:ln/>
        </p:spPr>
        <p:txBody>
          <a:bodyPr wrap="square" lIns="0" tIns="0" rIns="0" bIns="0" rtlCol="0" anchor="t"/>
          <a:lstStyle/>
          <a:p>
            <a:pPr marL="0" indent="0">
              <a:buNone/>
            </a:pPr>
            <a:r>
              <a:rPr lang="en-US" sz="1300" dirty="0">
                <a:solidFill>
                  <a:srgbClr val="5B676A"/>
                </a:solidFill>
              </a:rPr>
              <a:t>Tạm dịch: một tòa tháp gạch cũ có hoa văn chạm khắc, đứng trên bãi cát…</a:t>
            </a:r>
            <a:endParaRPr lang="en-US" sz="1300" dirty="0"/>
          </a:p>
        </p:txBody>
      </p:sp>
      <p:sp>
        <p:nvSpPr>
          <p:cNvPr id="11" name="txt-66"/>
          <p:cNvSpPr txBox="1"/>
          <p:nvPr/>
        </p:nvSpPr>
        <p:spPr>
          <a:xfrm>
            <a:off x="5120640" y="3703320"/>
            <a:ext cx="3291840" cy="548640"/>
          </a:xfrm>
          <a:prstGeom prst="rect">
            <a:avLst/>
          </a:prstGeom>
          <a:noFill/>
          <a:ln/>
        </p:spPr>
        <p:txBody>
          <a:bodyPr wrap="square" lIns="0" tIns="0" rIns="0" bIns="0" rtlCol="0" anchor="t"/>
          <a:lstStyle/>
          <a:p>
            <a:pPr marL="0" indent="0">
              <a:buNone/>
            </a:pPr>
            <a:r>
              <a:rPr lang="en-US" sz="1300" b="1" dirty="0">
                <a:solidFill>
                  <a:schemeClr val="accent3"/>
                </a:solidFill>
              </a:rPr>
              <a:t>Mô tả kiểu này giống cách người dùng gõ khi tìm kiếm.</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Hai AI kiểm tra chéo nhau</a:t>
            </a:r>
            <a:endParaRPr lang="en-US" sz="2800" dirty="0"/>
          </a:p>
        </p:txBody>
      </p:sp>
      <p:sp>
        <p:nvSpPr>
          <p:cNvPr id="3" name="txt-67"/>
          <p:cNvSpPr txBox="1"/>
          <p:nvPr/>
        </p:nvSpPr>
        <p:spPr>
          <a:xfrm>
            <a:off x="457200" y="1325880"/>
            <a:ext cx="3840480" cy="2103120"/>
          </a:xfrm>
          <a:prstGeom prst="rect">
            <a:avLst/>
          </a:prstGeom>
          <a:noFill/>
          <a:ln/>
        </p:spPr>
        <p:txBody>
          <a:bodyPr wrap="square" lIns="0" tIns="0" rIns="0" bIns="0" rtlCol="0" anchor="t"/>
          <a:lstStyle/>
          <a:p>
            <a:pPr marL="0" indent="0">
              <a:buNone/>
            </a:pPr>
            <a:r>
              <a:rPr lang="en-US" sz="1500" b="1" dirty="0">
                <a:solidFill>
                  <a:schemeClr val="accent3"/>
                </a:solidFill>
              </a:rPr>
              <a:t>Hai mô tả giống nhau</a:t>
            </a:r>
            <a:endParaRPr lang="en-US" sz="1500" dirty="0"/>
          </a:p>
          <a:p>
            <a:pPr marL="0" indent="0">
              <a:buNone/>
            </a:pPr>
            <a:r>
              <a:rPr lang="en-US" sz="1500" dirty="0">
                <a:solidFill>
                  <a:schemeClr val="tx1"/>
                </a:solidFill>
              </a:rPr>
              <a:t>Khó có chuyện cả hai cùng sai giống nhau, nên giữ mô tả của Qwen.</a:t>
            </a:r>
            <a:endParaRPr lang="en-US" sz="1500" dirty="0"/>
          </a:p>
          <a:p>
            <a:pPr marL="0" indent="0">
              <a:buNone/>
            </a:pPr>
            <a:r>
              <a:rPr lang="en-US" sz="800" dirty="0">
                <a:solidFill>
                  <a:schemeClr val="tx1"/>
                </a:solidFill>
              </a:rPr>
              <a:t> </a:t>
            </a:r>
            <a:endParaRPr lang="en-US" sz="1500" dirty="0"/>
          </a:p>
          <a:p>
            <a:pPr marL="0" indent="0">
              <a:buNone/>
            </a:pPr>
            <a:r>
              <a:rPr lang="en-US" sz="1500" b="1" dirty="0">
                <a:solidFill>
                  <a:schemeClr val="accent1"/>
                </a:solidFill>
              </a:rPr>
              <a:t>Hai mô tả khác nhau</a:t>
            </a:r>
            <a:endParaRPr lang="en-US" sz="1500" dirty="0"/>
          </a:p>
          <a:p>
            <a:pPr marL="0" indent="0">
              <a:buNone/>
            </a:pPr>
            <a:r>
              <a:rPr lang="en-US" sz="1500" dirty="0">
                <a:solidFill>
                  <a:schemeClr val="tx1"/>
                </a:solidFill>
              </a:rPr>
              <a:t>Có thể một trong hai đã sai, nên người xem ảnh và chọn lại hoặc viết lại.</a:t>
            </a:r>
            <a:endParaRPr lang="en-US" sz="1500" dirty="0"/>
          </a:p>
        </p:txBody>
      </p:sp>
      <p:sp>
        <p:nvSpPr>
          <p:cNvPr id="4" name="txt-68"/>
          <p:cNvSpPr txBox="1"/>
          <p:nvPr/>
        </p:nvSpPr>
        <p:spPr>
          <a:xfrm>
            <a:off x="457200" y="3566160"/>
            <a:ext cx="3840480" cy="822960"/>
          </a:xfrm>
          <a:prstGeom prst="rect">
            <a:avLst/>
          </a:prstGeom>
          <a:noFill/>
          <a:ln/>
        </p:spPr>
        <p:txBody>
          <a:bodyPr wrap="square" lIns="0" tIns="0" rIns="0" bIns="0" rtlCol="0" anchor="t"/>
          <a:lstStyle/>
          <a:p>
            <a:pPr marL="0" indent="0">
              <a:buNone/>
            </a:pPr>
            <a:r>
              <a:rPr lang="en-US" sz="1300" dirty="0">
                <a:solidFill>
                  <a:srgbClr val="5B676A"/>
                </a:solidFill>
              </a:rPr>
              <a:t>Ngưỡng “giống nhau” được chọn sau khi tự chấm tay 100 ảnh mẫu: mô tả của Qwen đúng 94/100.</a:t>
            </a:r>
            <a:endParaRPr lang="en-US" sz="1300" dirty="0"/>
          </a:p>
        </p:txBody>
      </p:sp>
      <p:graphicFrame>
        <p:nvGraphicFramePr>
          <p:cNvPr id="5" name="chart-69"/>
          <p:cNvGraphicFramePr/>
          <p:nvPr/>
        </p:nvGraphicFramePr>
        <p:xfrm>
          <a:off x="4572000" y="1188720"/>
          <a:ext cx="41148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Khi AI “nhìn nhầm”</a:t>
            </a:r>
            <a:endParaRPr lang="en-US" sz="2800" dirty="0"/>
          </a:p>
        </p:txBody>
      </p:sp>
      <p:graphicFrame>
        <p:nvGraphicFramePr>
          <p:cNvPr id="9" name="table-7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267712"/>
        </p:xfrm>
        <a:graphic>
          <a:graphicData uri="http://schemas.openxmlformats.org/drawingml/2006/table">
            <a:tbl>
              <a:tblPr/>
              <a:tblGrid>
                <a:gridCol w="18288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Ảnh thật là</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solidFill>
                      <a:srgbClr val="1F2A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Qwen viết</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solidFill>
                      <a:srgbClr val="1F2A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Gemma viết</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solidFill>
                      <a:srgbClr val="1F2A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Quyết định</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solidFill>
                      <a:srgbClr val="1F2A2E"/>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Phù điêu đá màu xanh</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“…cảnh dưới nước, có cá bơi qua…”</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“…phù điêu đá có hoa văn tròn…”</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b="1" dirty="0">
                          <a:solidFill>
                            <a:srgbClr val="8E2B22"/>
                          </a:solidFill>
                          <a:latin typeface="Calibri" pitchFamily="34" charset="0"/>
                          <a:ea typeface="Calibri" pitchFamily="34" charset="-122"/>
                          <a:cs typeface="Calibri" pitchFamily="34" charset="-120"/>
                        </a:rPr>
                        <a:t>Chọn Gemma</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Cổng đình làng</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“…cổng lớn tại Đình Làng Mai Xá…” (tự đoán tên)</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“…cổng vòm sơn xanh hồng, mái cong…”</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b="1" dirty="0">
                          <a:solidFill>
                            <a:srgbClr val="8E2B22"/>
                          </a:solidFill>
                          <a:latin typeface="Calibri" pitchFamily="34" charset="0"/>
                          <a:ea typeface="Calibri" pitchFamily="34" charset="-122"/>
                          <a:cs typeface="Calibri" pitchFamily="34" charset="-120"/>
                        </a:rPr>
                        <a:t>Chọn Gemma</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Hiện vật trong bảo tàng</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“…mô hình kiến trúc trên đế đá…”</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dirty="0">
                          <a:solidFill>
                            <a:srgbClr val="1F2A2E"/>
                          </a:solidFill>
                          <a:latin typeface="Calibri" pitchFamily="34" charset="0"/>
                          <a:ea typeface="Calibri" pitchFamily="34" charset="-122"/>
                          <a:cs typeface="Calibri" pitchFamily="34" charset="-120"/>
                        </a:rPr>
                        <a:t>“…bản vẽ một con rồng…”</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tc>
                  <a:txBody>
                    <a:bodyPr/>
                    <a:lstStyle/>
                    <a:p>
                      <a:pPr marL="0" indent="0">
                        <a:buNone/>
                      </a:pPr>
                      <a:r>
                        <a:rPr lang="en-US" sz="1300" b="1" dirty="0">
                          <a:solidFill>
                            <a:srgbClr val="8E2B22"/>
                          </a:solidFill>
                          <a:latin typeface="Calibri" pitchFamily="34" charset="0"/>
                          <a:ea typeface="Calibri" pitchFamily="34" charset="-122"/>
                          <a:cs typeface="Calibri" pitchFamily="34" charset="-120"/>
                        </a:rPr>
                        <a:t>Cả hai sai: viết lại</a:t>
                      </a:r>
                      <a:endParaRPr lang="en-US" sz="1300" dirty="0">
                        <a:latin typeface="Calibri" charset="0"/>
                        <a:ea typeface="Calibri" charset="0"/>
                        <a:cs typeface="Calibri" charset="0"/>
                      </a:endParaRPr>
                    </a:p>
                  </a:txBody>
                  <a:tcPr anchor="ctr">
                    <a:lnL w="6350" cap="flat" cmpd="sng" algn="ctr">
                      <a:solidFill>
                        <a:srgbClr val="D3D8CF"/>
                      </a:solidFill>
                      <a:prstDash val="solid"/>
                      <a:round/>
                      <a:headEnd type="none" w="med" len="med"/>
                      <a:tailEnd type="none" w="med" len="med"/>
                    </a:lnL>
                    <a:lnR w="6350" cap="flat" cmpd="sng" algn="ctr">
                      <a:solidFill>
                        <a:srgbClr val="D3D8CF"/>
                      </a:solidFill>
                      <a:prstDash val="solid"/>
                      <a:round/>
                      <a:headEnd type="none" w="med" len="med"/>
                      <a:tailEnd type="none" w="med" len="med"/>
                    </a:lnR>
                    <a:lnT w="6350" cap="flat" cmpd="sng" algn="ctr">
                      <a:solidFill>
                        <a:srgbClr val="D3D8CF"/>
                      </a:solidFill>
                      <a:prstDash val="solid"/>
                      <a:round/>
                      <a:headEnd type="none" w="med" len="med"/>
                      <a:tailEnd type="none" w="med" len="med"/>
                    </a:lnT>
                    <a:lnB w="6350" cap="flat" cmpd="sng" algn="ctr">
                      <a:solidFill>
                        <a:srgbClr val="D3D8C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xt-71"/>
          <p:cNvSpPr txBox="1"/>
          <p:nvPr/>
        </p:nvSpPr>
        <p:spPr>
          <a:xfrm>
            <a:off x="457200" y="3931920"/>
            <a:ext cx="8229600" cy="457200"/>
          </a:xfrm>
          <a:prstGeom prst="rect">
            <a:avLst/>
          </a:prstGeom>
          <a:noFill/>
          <a:ln/>
        </p:spPr>
        <p:txBody>
          <a:bodyPr wrap="square" lIns="0" tIns="0" rIns="0" bIns="0" rtlCol="0" anchor="t"/>
          <a:lstStyle/>
          <a:p>
            <a:pPr marL="0" indent="0">
              <a:buNone/>
            </a:pPr>
            <a:r>
              <a:rPr lang="en-US" sz="1400" i="1" dirty="0">
                <a:solidFill>
                  <a:schemeClr val="accent1"/>
                </a:solidFill>
              </a:rPr>
              <a:t>Vì vậy không thể tin tuyệt đối một AI: kiểm tra chéo và một chút công sức người là cần thiết.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Bộ dữ liệu cuối cùng</a:t>
            </a:r>
            <a:endParaRPr lang="en-US" sz="2800" dirty="0"/>
          </a:p>
        </p:txBody>
      </p:sp>
      <p:sp>
        <p:nvSpPr>
          <p:cNvPr id="3" name="txt-72"/>
          <p:cNvSpPr txBox="1"/>
          <p:nvPr/>
        </p:nvSpPr>
        <p:spPr>
          <a:xfrm>
            <a:off x="457200" y="1325880"/>
            <a:ext cx="2926080" cy="68580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7.756</a:t>
            </a:r>
            <a:endParaRPr lang="en-US" sz="4000" dirty="0"/>
          </a:p>
        </p:txBody>
      </p:sp>
      <p:sp>
        <p:nvSpPr>
          <p:cNvPr id="4" name="txt-73"/>
          <p:cNvSpPr txBox="1"/>
          <p:nvPr/>
        </p:nvSpPr>
        <p:spPr>
          <a:xfrm>
            <a:off x="457200" y="2057400"/>
            <a:ext cx="2926080" cy="548640"/>
          </a:xfrm>
          <a:prstGeom prst="rect">
            <a:avLst/>
          </a:prstGeom>
          <a:noFill/>
          <a:ln/>
        </p:spPr>
        <p:txBody>
          <a:bodyPr wrap="square" lIns="0" tIns="0" rIns="0" bIns="0" rtlCol="0" anchor="t"/>
          <a:lstStyle/>
          <a:p>
            <a:pPr marL="0" indent="0">
              <a:buNone/>
            </a:pPr>
            <a:r>
              <a:rPr lang="en-US" sz="1300" dirty="0">
                <a:solidFill>
                  <a:srgbClr val="5B676A"/>
                </a:solidFill>
              </a:rPr>
              <a:t>cặp ảnh + mô tả</a:t>
            </a:r>
            <a:endParaRPr lang="en-US" sz="1300" dirty="0"/>
          </a:p>
        </p:txBody>
      </p:sp>
      <p:sp>
        <p:nvSpPr>
          <p:cNvPr id="5" name="txt-74"/>
          <p:cNvSpPr txBox="1"/>
          <p:nvPr/>
        </p:nvSpPr>
        <p:spPr>
          <a:xfrm>
            <a:off x="457200" y="2606040"/>
            <a:ext cx="2926080" cy="68580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27</a:t>
            </a:r>
            <a:endParaRPr lang="en-US" sz="4000" dirty="0"/>
          </a:p>
        </p:txBody>
      </p:sp>
      <p:sp>
        <p:nvSpPr>
          <p:cNvPr id="6" name="txt-75"/>
          <p:cNvSpPr txBox="1"/>
          <p:nvPr/>
        </p:nvSpPr>
        <p:spPr>
          <a:xfrm>
            <a:off x="457200" y="3337560"/>
            <a:ext cx="2926080" cy="548640"/>
          </a:xfrm>
          <a:prstGeom prst="rect">
            <a:avLst/>
          </a:prstGeom>
          <a:noFill/>
          <a:ln/>
        </p:spPr>
        <p:txBody>
          <a:bodyPr wrap="square" lIns="0" tIns="0" rIns="0" bIns="0" rtlCol="0" anchor="t"/>
          <a:lstStyle/>
          <a:p>
            <a:pPr marL="0" indent="0">
              <a:buNone/>
            </a:pPr>
            <a:r>
              <a:rPr lang="en-US" sz="1300" dirty="0">
                <a:solidFill>
                  <a:srgbClr val="5B676A"/>
                </a:solidFill>
              </a:rPr>
              <a:t>từ trung bình mỗi mô tả</a:t>
            </a:r>
            <a:endParaRPr lang="en-US" sz="1300" dirty="0"/>
          </a:p>
        </p:txBody>
      </p:sp>
      <p:sp>
        <p:nvSpPr>
          <p:cNvPr id="7" name="txt-76"/>
          <p:cNvSpPr txBox="1"/>
          <p:nvPr/>
        </p:nvSpPr>
        <p:spPr>
          <a:xfrm>
            <a:off x="457200" y="3794760"/>
            <a:ext cx="3108960" cy="731520"/>
          </a:xfrm>
          <a:prstGeom prst="rect">
            <a:avLst/>
          </a:prstGeom>
          <a:noFill/>
          <a:ln/>
        </p:spPr>
        <p:txBody>
          <a:bodyPr wrap="square" lIns="0" tIns="0" rIns="0" bIns="0" rtlCol="0" anchor="t"/>
          <a:lstStyle/>
          <a:p>
            <a:pPr marL="0" indent="0">
              <a:buNone/>
            </a:pPr>
            <a:r>
              <a:rPr lang="en-US" sz="1300" dirty="0">
                <a:solidFill>
                  <a:srgbClr val="5B676A"/>
                </a:solidFill>
              </a:rPr>
              <a:t>Không chỉ có mặt ngoài công trình: còn nội thất, chi tiết trang trí, tượng, bản vẽ.</a:t>
            </a:r>
            <a:endParaRPr lang="en-US" sz="1300" dirty="0"/>
          </a:p>
        </p:txBody>
      </p:sp>
      <p:graphicFrame>
        <p:nvGraphicFramePr>
          <p:cNvPr id="8" name="chart-77"/>
          <p:cNvGraphicFramePr/>
          <p:nvPr/>
        </p:nvGraphicFramePr>
        <p:xfrm>
          <a:off x="3840480" y="1188720"/>
          <a:ext cx="48463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CLIP: đặt ảnh và câu chữ lên cùng một “bản đồ”</a:t>
            </a:r>
            <a:endParaRPr lang="en-US" sz="2800" dirty="0"/>
          </a:p>
        </p:txBody>
      </p:sp>
      <p:sp>
        <p:nvSpPr>
          <p:cNvPr id="3" name="card-78"/>
          <p:cNvSpPr/>
          <p:nvPr/>
        </p:nvSpPr>
        <p:spPr>
          <a:xfrm>
            <a:off x="457200" y="1280160"/>
            <a:ext cx="2194560" cy="1097280"/>
          </a:xfrm>
          <a:prstGeom prst="roundRect">
            <a:avLst>
              <a:gd name="adj" fmla="val 10000"/>
            </a:avLst>
          </a:prstGeom>
          <a:solidFill>
            <a:schemeClr val="bg2"/>
          </a:solidFill>
          <a:ln w="12700">
            <a:solidFill>
              <a:schemeClr val="bg2"/>
            </a:solidFill>
            <a:prstDash val="solid"/>
          </a:ln>
        </p:spPr>
      </p:sp>
      <p:sp>
        <p:nvSpPr>
          <p:cNvPr id="4" name="badge-79"/>
          <p:cNvSpPr/>
          <p:nvPr/>
        </p:nvSpPr>
        <p:spPr>
          <a:xfrm>
            <a:off x="640080" y="1554480"/>
            <a:ext cx="548640" cy="548640"/>
          </a:xfrm>
          <a:prstGeom prst="ellipse">
            <a:avLst/>
          </a:prstGeom>
          <a:solidFill>
            <a:schemeClr val="accent1"/>
          </a:solidFill>
          <a:ln w="12700">
            <a:solidFill>
              <a:schemeClr val="accent1"/>
            </a:solidFill>
            <a:prstDash val="solid"/>
          </a:ln>
        </p:spPr>
      </p:sp>
      <p:pic>
        <p:nvPicPr>
          <p:cNvPr id="5" name="icon-80" descr="preencoded.png"/>
          <p:cNvPicPr>
            <a:picLocks noChangeAspect="1"/>
          </p:cNvPicPr>
          <p:nvPr/>
        </p:nvPicPr>
        <p:blipFill>
          <a:blip r:embed="rId3"/>
          <a:stretch>
            <a:fillRect/>
          </a:stretch>
        </p:blipFill>
        <p:spPr>
          <a:xfrm>
            <a:off x="777240" y="1691640"/>
            <a:ext cx="274320" cy="274320"/>
          </a:xfrm>
          <a:prstGeom prst="rect">
            <a:avLst/>
          </a:prstGeom>
        </p:spPr>
      </p:pic>
      <p:sp>
        <p:nvSpPr>
          <p:cNvPr id="6" name="txt-81"/>
          <p:cNvSpPr txBox="1"/>
          <p:nvPr/>
        </p:nvSpPr>
        <p:spPr>
          <a:xfrm>
            <a:off x="1325880" y="1645920"/>
            <a:ext cx="1188720" cy="365760"/>
          </a:xfrm>
          <a:prstGeom prst="rect">
            <a:avLst/>
          </a:prstGeom>
          <a:noFill/>
          <a:ln/>
        </p:spPr>
        <p:txBody>
          <a:bodyPr wrap="square" lIns="0" tIns="0" rIns="0" bIns="0" rtlCol="0" anchor="t"/>
          <a:lstStyle/>
          <a:p>
            <a:pPr marL="0" indent="0">
              <a:buNone/>
            </a:pPr>
            <a:r>
              <a:rPr lang="en-US" sz="1700" b="1" dirty="0">
                <a:solidFill>
                  <a:schemeClr val="tx1"/>
                </a:solidFill>
              </a:rPr>
              <a:t>Ảnh</a:t>
            </a:r>
            <a:endParaRPr lang="en-US" sz="1700" dirty="0"/>
          </a:p>
        </p:txBody>
      </p:sp>
      <p:sp>
        <p:nvSpPr>
          <p:cNvPr id="7" name="card-82"/>
          <p:cNvSpPr/>
          <p:nvPr/>
        </p:nvSpPr>
        <p:spPr>
          <a:xfrm>
            <a:off x="457200" y="2743200"/>
            <a:ext cx="2194560" cy="1097280"/>
          </a:xfrm>
          <a:prstGeom prst="roundRect">
            <a:avLst>
              <a:gd name="adj" fmla="val 10000"/>
            </a:avLst>
          </a:prstGeom>
          <a:solidFill>
            <a:schemeClr val="bg2"/>
          </a:solidFill>
          <a:ln w="12700">
            <a:solidFill>
              <a:schemeClr val="bg2"/>
            </a:solidFill>
            <a:prstDash val="solid"/>
          </a:ln>
        </p:spPr>
      </p:sp>
      <p:sp>
        <p:nvSpPr>
          <p:cNvPr id="8" name="badge-83"/>
          <p:cNvSpPr/>
          <p:nvPr/>
        </p:nvSpPr>
        <p:spPr>
          <a:xfrm>
            <a:off x="640080" y="3017520"/>
            <a:ext cx="548640" cy="548640"/>
          </a:xfrm>
          <a:prstGeom prst="ellipse">
            <a:avLst/>
          </a:prstGeom>
          <a:solidFill>
            <a:schemeClr val="accent2"/>
          </a:solidFill>
          <a:ln w="12700">
            <a:solidFill>
              <a:schemeClr val="accent2"/>
            </a:solidFill>
            <a:prstDash val="solid"/>
          </a:ln>
        </p:spPr>
      </p:sp>
      <p:pic>
        <p:nvPicPr>
          <p:cNvPr id="9" name="icon-84" descr="preencoded.png"/>
          <p:cNvPicPr>
            <a:picLocks noChangeAspect="1"/>
          </p:cNvPicPr>
          <p:nvPr/>
        </p:nvPicPr>
        <p:blipFill>
          <a:blip r:embed="rId4"/>
          <a:stretch>
            <a:fillRect/>
          </a:stretch>
        </p:blipFill>
        <p:spPr>
          <a:xfrm>
            <a:off x="777240" y="3154680"/>
            <a:ext cx="274320" cy="274320"/>
          </a:xfrm>
          <a:prstGeom prst="rect">
            <a:avLst/>
          </a:prstGeom>
        </p:spPr>
      </p:pic>
      <p:sp>
        <p:nvSpPr>
          <p:cNvPr id="10" name="txt-85"/>
          <p:cNvSpPr txBox="1"/>
          <p:nvPr/>
        </p:nvSpPr>
        <p:spPr>
          <a:xfrm>
            <a:off x="1325880" y="3108960"/>
            <a:ext cx="1280160" cy="365760"/>
          </a:xfrm>
          <a:prstGeom prst="rect">
            <a:avLst/>
          </a:prstGeom>
          <a:noFill/>
          <a:ln/>
        </p:spPr>
        <p:txBody>
          <a:bodyPr wrap="square" lIns="0" tIns="0" rIns="0" bIns="0" rtlCol="0" anchor="t"/>
          <a:lstStyle/>
          <a:p>
            <a:pPr marL="0" indent="0">
              <a:buNone/>
            </a:pPr>
            <a:r>
              <a:rPr lang="en-US" sz="1700" b="1" dirty="0">
                <a:solidFill>
                  <a:schemeClr val="tx1"/>
                </a:solidFill>
              </a:rPr>
              <a:t>Câu mô tả</a:t>
            </a:r>
            <a:endParaRPr lang="en-US" sz="1700" dirty="0"/>
          </a:p>
        </p:txBody>
      </p:sp>
      <p:sp>
        <p:nvSpPr>
          <p:cNvPr id="11" name="arrow-86"/>
          <p:cNvSpPr/>
          <p:nvPr/>
        </p:nvSpPr>
        <p:spPr>
          <a:xfrm>
            <a:off x="2834640" y="1691640"/>
            <a:ext cx="640080" cy="274320"/>
          </a:xfrm>
          <a:prstGeom prst="rightArrow">
            <a:avLst/>
          </a:prstGeom>
          <a:solidFill>
            <a:schemeClr val="accent5"/>
          </a:solidFill>
          <a:ln w="12700">
            <a:solidFill>
              <a:schemeClr val="accent5"/>
            </a:solidFill>
            <a:prstDash val="solid"/>
          </a:ln>
        </p:spPr>
      </p:sp>
      <p:sp>
        <p:nvSpPr>
          <p:cNvPr id="12" name="arrow-87"/>
          <p:cNvSpPr/>
          <p:nvPr/>
        </p:nvSpPr>
        <p:spPr>
          <a:xfrm>
            <a:off x="2834640" y="3154680"/>
            <a:ext cx="640080" cy="274320"/>
          </a:xfrm>
          <a:prstGeom prst="rightArrow">
            <a:avLst/>
          </a:prstGeom>
          <a:solidFill>
            <a:schemeClr val="accent5"/>
          </a:solidFill>
          <a:ln w="12700">
            <a:solidFill>
              <a:schemeClr val="accent5"/>
            </a:solidFill>
            <a:prstDash val="solid"/>
          </a:ln>
        </p:spPr>
      </p:sp>
      <p:sp>
        <p:nvSpPr>
          <p:cNvPr id="13" name="card-88"/>
          <p:cNvSpPr/>
          <p:nvPr/>
        </p:nvSpPr>
        <p:spPr>
          <a:xfrm>
            <a:off x="3657600" y="1280160"/>
            <a:ext cx="2560320" cy="2560320"/>
          </a:xfrm>
          <a:prstGeom prst="roundRect">
            <a:avLst>
              <a:gd name="adj" fmla="val 4286"/>
            </a:avLst>
          </a:prstGeom>
          <a:solidFill>
            <a:schemeClr val="tx1"/>
          </a:solidFill>
          <a:ln w="12700">
            <a:solidFill>
              <a:schemeClr val="tx1"/>
            </a:solidFill>
            <a:prstDash val="solid"/>
          </a:ln>
        </p:spPr>
      </p:sp>
      <p:sp>
        <p:nvSpPr>
          <p:cNvPr id="14" name="dot-89"/>
          <p:cNvSpPr/>
          <p:nvPr/>
        </p:nvSpPr>
        <p:spPr>
          <a:xfrm>
            <a:off x="4206240" y="1737360"/>
            <a:ext cx="201168" cy="201168"/>
          </a:xfrm>
          <a:prstGeom prst="ellipse">
            <a:avLst/>
          </a:prstGeom>
          <a:solidFill>
            <a:schemeClr val="accent1"/>
          </a:solidFill>
          <a:ln w="12700">
            <a:solidFill>
              <a:schemeClr val="accent1"/>
            </a:solidFill>
            <a:prstDash val="solid"/>
          </a:ln>
        </p:spPr>
      </p:sp>
      <p:sp>
        <p:nvSpPr>
          <p:cNvPr id="15" name="dot-90"/>
          <p:cNvSpPr/>
          <p:nvPr/>
        </p:nvSpPr>
        <p:spPr>
          <a:xfrm>
            <a:off x="4434840" y="1920240"/>
            <a:ext cx="201168" cy="201168"/>
          </a:xfrm>
          <a:prstGeom prst="ellipse">
            <a:avLst/>
          </a:prstGeom>
          <a:solidFill>
            <a:schemeClr val="accent2"/>
          </a:solidFill>
          <a:ln w="12700">
            <a:solidFill>
              <a:schemeClr val="accent2"/>
            </a:solidFill>
            <a:prstDash val="solid"/>
          </a:ln>
        </p:spPr>
      </p:sp>
      <p:sp>
        <p:nvSpPr>
          <p:cNvPr id="16" name="dot-91"/>
          <p:cNvSpPr/>
          <p:nvPr/>
        </p:nvSpPr>
        <p:spPr>
          <a:xfrm>
            <a:off x="5394960" y="3017520"/>
            <a:ext cx="201168" cy="201168"/>
          </a:xfrm>
          <a:prstGeom prst="ellipse">
            <a:avLst/>
          </a:prstGeom>
          <a:solidFill>
            <a:schemeClr val="accent1"/>
          </a:solidFill>
          <a:ln w="12700">
            <a:solidFill>
              <a:schemeClr val="accent1"/>
            </a:solidFill>
            <a:prstDash val="solid"/>
          </a:ln>
        </p:spPr>
      </p:sp>
      <p:sp>
        <p:nvSpPr>
          <p:cNvPr id="17" name="dot-92"/>
          <p:cNvSpPr/>
          <p:nvPr/>
        </p:nvSpPr>
        <p:spPr>
          <a:xfrm>
            <a:off x="5623560" y="3200400"/>
            <a:ext cx="201168" cy="201168"/>
          </a:xfrm>
          <a:prstGeom prst="ellipse">
            <a:avLst/>
          </a:prstGeom>
          <a:solidFill>
            <a:schemeClr val="accent2"/>
          </a:solidFill>
          <a:ln w="12700">
            <a:solidFill>
              <a:schemeClr val="accent2"/>
            </a:solidFill>
            <a:prstDash val="solid"/>
          </a:ln>
        </p:spPr>
      </p:sp>
      <p:sp>
        <p:nvSpPr>
          <p:cNvPr id="18" name="dot-93"/>
          <p:cNvSpPr/>
          <p:nvPr/>
        </p:nvSpPr>
        <p:spPr>
          <a:xfrm>
            <a:off x="5120640" y="1828800"/>
            <a:ext cx="201168" cy="201168"/>
          </a:xfrm>
          <a:prstGeom prst="ellipse">
            <a:avLst/>
          </a:prstGeom>
          <a:solidFill>
            <a:schemeClr val="accent3"/>
          </a:solidFill>
          <a:ln w="12700">
            <a:solidFill>
              <a:schemeClr val="accent3"/>
            </a:solidFill>
            <a:prstDash val="solid"/>
          </a:ln>
        </p:spPr>
      </p:sp>
      <p:sp>
        <p:nvSpPr>
          <p:cNvPr id="19" name="txt-94"/>
          <p:cNvSpPr txBox="1"/>
          <p:nvPr/>
        </p:nvSpPr>
        <p:spPr>
          <a:xfrm>
            <a:off x="3931920" y="2148840"/>
            <a:ext cx="1188720" cy="274320"/>
          </a:xfrm>
          <a:prstGeom prst="rect">
            <a:avLst/>
          </a:prstGeom>
          <a:noFill/>
          <a:ln/>
        </p:spPr>
        <p:txBody>
          <a:bodyPr wrap="square" lIns="0" tIns="0" rIns="0" bIns="0" rtlCol="0" anchor="t"/>
          <a:lstStyle/>
          <a:p>
            <a:pPr marL="0" indent="0">
              <a:buNone/>
            </a:pPr>
            <a:r>
              <a:rPr lang="en-US" sz="1100" dirty="0">
                <a:solidFill>
                  <a:schemeClr val="bg1"/>
                </a:solidFill>
              </a:rPr>
              <a:t>tháp gạch</a:t>
            </a:r>
            <a:endParaRPr lang="en-US" sz="1100" dirty="0"/>
          </a:p>
        </p:txBody>
      </p:sp>
      <p:sp>
        <p:nvSpPr>
          <p:cNvPr id="20" name="txt-95"/>
          <p:cNvSpPr txBox="1"/>
          <p:nvPr/>
        </p:nvSpPr>
        <p:spPr>
          <a:xfrm>
            <a:off x="5029200" y="3429000"/>
            <a:ext cx="1097280" cy="274320"/>
          </a:xfrm>
          <a:prstGeom prst="rect">
            <a:avLst/>
          </a:prstGeom>
          <a:noFill/>
          <a:ln/>
        </p:spPr>
        <p:txBody>
          <a:bodyPr wrap="square" lIns="0" tIns="0" rIns="0" bIns="0" rtlCol="0" anchor="t"/>
          <a:lstStyle/>
          <a:p>
            <a:pPr marL="0" indent="0">
              <a:buNone/>
            </a:pPr>
            <a:r>
              <a:rPr lang="en-US" sz="1100" dirty="0">
                <a:solidFill>
                  <a:schemeClr val="bg1"/>
                </a:solidFill>
              </a:rPr>
              <a:t>cổng chùa</a:t>
            </a:r>
            <a:endParaRPr lang="en-US" sz="1100" dirty="0"/>
          </a:p>
        </p:txBody>
      </p:sp>
      <p:sp>
        <p:nvSpPr>
          <p:cNvPr id="21" name="txt-96"/>
          <p:cNvSpPr txBox="1"/>
          <p:nvPr/>
        </p:nvSpPr>
        <p:spPr>
          <a:xfrm>
            <a:off x="6492240" y="1280160"/>
            <a:ext cx="2194560" cy="3200400"/>
          </a:xfrm>
          <a:prstGeom prst="rect">
            <a:avLst/>
          </a:prstGeom>
          <a:noFill/>
          <a:ln/>
        </p:spPr>
        <p:txBody>
          <a:bodyPr wrap="square" lIns="0" tIns="0" rIns="0" bIns="0" rtlCol="0" anchor="t"/>
          <a:lstStyle/>
          <a:p>
            <a:pPr marL="0" indent="0">
              <a:buNone/>
            </a:pPr>
            <a:r>
              <a:rPr lang="en-US" sz="1300" b="1" dirty="0">
                <a:solidFill>
                  <a:schemeClr val="tx1"/>
                </a:solidFill>
              </a:rPr>
              <a:t>Ảnh và câu có cùng ý nằm gần nhau</a:t>
            </a:r>
            <a:endParaRPr lang="en-US" sz="1300" dirty="0"/>
          </a:p>
          <a:p>
            <a:pPr marL="0" indent="0">
              <a:buNone/>
            </a:pPr>
            <a:r>
              <a:rPr lang="en-US" sz="1300" dirty="0">
                <a:solidFill>
                  <a:schemeClr val="tx1"/>
                </a:solidFill>
              </a:rPr>
              <a:t>Tìm kiếm = tìm những ảnh nằm gần câu người dùng gõ.</a:t>
            </a:r>
            <a:endParaRPr lang="en-US" sz="1300" dirty="0"/>
          </a:p>
          <a:p>
            <a:pPr marL="0" indent="0">
              <a:buNone/>
            </a:pPr>
            <a:r>
              <a:rPr lang="en-US" sz="800" dirty="0">
                <a:solidFill>
                  <a:schemeClr val="tx1"/>
                </a:solidFill>
              </a:rPr>
              <a:t> </a:t>
            </a:r>
            <a:endParaRPr lang="en-US" sz="1300" dirty="0"/>
          </a:p>
          <a:p>
            <a:pPr marL="0" indent="0">
              <a:buNone/>
            </a:pPr>
            <a:r>
              <a:rPr lang="en-US" sz="1300" b="1" dirty="0">
                <a:solidFill>
                  <a:schemeClr val="accent1"/>
                </a:solidFill>
              </a:rPr>
              <a:t>Vấn đề</a:t>
            </a:r>
            <a:endParaRPr lang="en-US" sz="1300" dirty="0"/>
          </a:p>
          <a:p>
            <a:pPr marL="0" indent="0">
              <a:buNone/>
            </a:pPr>
            <a:r>
              <a:rPr lang="en-US" sz="1300" dirty="0">
                <a:solidFill>
                  <a:schemeClr val="tx1"/>
                </a:solidFill>
              </a:rPr>
              <a:t>CLIP học từ ảnh internet nói chung, chưa quen kiến trúc Việt: với CLIP gốc, chỉ khoảng một nửa số mô tả tìm được ảnh đúng trong 10 kết quả đầu.</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Dạy lại CLIP như thế nào</a:t>
            </a:r>
            <a:endParaRPr lang="en-US" sz="2800" dirty="0"/>
          </a:p>
        </p:txBody>
      </p:sp>
      <p:sp>
        <p:nvSpPr>
          <p:cNvPr id="3" name="card-97"/>
          <p:cNvSpPr/>
          <p:nvPr/>
        </p:nvSpPr>
        <p:spPr>
          <a:xfrm>
            <a:off x="457200" y="1234440"/>
            <a:ext cx="4023360" cy="1463040"/>
          </a:xfrm>
          <a:prstGeom prst="roundRect">
            <a:avLst>
              <a:gd name="adj" fmla="val 7500"/>
            </a:avLst>
          </a:prstGeom>
          <a:solidFill>
            <a:schemeClr val="bg2"/>
          </a:solidFill>
          <a:ln w="12700">
            <a:solidFill>
              <a:schemeClr val="bg2"/>
            </a:solidFill>
            <a:prstDash val="solid"/>
          </a:ln>
        </p:spPr>
      </p:sp>
      <p:sp>
        <p:nvSpPr>
          <p:cNvPr id="4" name="badge-98"/>
          <p:cNvSpPr/>
          <p:nvPr/>
        </p:nvSpPr>
        <p:spPr>
          <a:xfrm>
            <a:off x="685800" y="1508760"/>
            <a:ext cx="594360" cy="594360"/>
          </a:xfrm>
          <a:prstGeom prst="ellipse">
            <a:avLst/>
          </a:prstGeom>
          <a:solidFill>
            <a:schemeClr val="accent1"/>
          </a:solidFill>
          <a:ln w="12700">
            <a:solidFill>
              <a:schemeClr val="accent1"/>
            </a:solidFill>
            <a:prstDash val="solid"/>
          </a:ln>
        </p:spPr>
      </p:sp>
      <p:pic>
        <p:nvPicPr>
          <p:cNvPr id="5" name="icon-99" descr="preencoded.png"/>
          <p:cNvPicPr>
            <a:picLocks noChangeAspect="1"/>
          </p:cNvPicPr>
          <p:nvPr/>
        </p:nvPicPr>
        <p:blipFill>
          <a:blip r:embed="rId3"/>
          <a:stretch>
            <a:fillRect/>
          </a:stretch>
        </p:blipFill>
        <p:spPr>
          <a:xfrm>
            <a:off x="834390" y="1657350"/>
            <a:ext cx="297180" cy="297180"/>
          </a:xfrm>
          <a:prstGeom prst="rect">
            <a:avLst/>
          </a:prstGeom>
        </p:spPr>
      </p:pic>
      <p:sp>
        <p:nvSpPr>
          <p:cNvPr id="6" name="txt-100"/>
          <p:cNvSpPr txBox="1"/>
          <p:nvPr/>
        </p:nvSpPr>
        <p:spPr>
          <a:xfrm>
            <a:off x="1463040" y="1417320"/>
            <a:ext cx="2834640" cy="365760"/>
          </a:xfrm>
          <a:prstGeom prst="rect">
            <a:avLst/>
          </a:prstGeom>
          <a:noFill/>
          <a:ln/>
        </p:spPr>
        <p:txBody>
          <a:bodyPr wrap="square" lIns="0" tIns="0" rIns="0" bIns="0" rtlCol="0" anchor="t"/>
          <a:lstStyle/>
          <a:p>
            <a:pPr marL="0" indent="0">
              <a:buNone/>
            </a:pPr>
            <a:r>
              <a:rPr lang="en-US" sz="1600" b="1" dirty="0">
                <a:solidFill>
                  <a:schemeClr val="tx1"/>
                </a:solidFill>
              </a:rPr>
              <a:t>Ghép đúng cặp</a:t>
            </a:r>
            <a:endParaRPr lang="en-US" sz="1600" dirty="0"/>
          </a:p>
        </p:txBody>
      </p:sp>
      <p:sp>
        <p:nvSpPr>
          <p:cNvPr id="7" name="txt-101"/>
          <p:cNvSpPr txBox="1"/>
          <p:nvPr/>
        </p:nvSpPr>
        <p:spPr>
          <a:xfrm>
            <a:off x="1463040" y="1801368"/>
            <a:ext cx="2834640" cy="822960"/>
          </a:xfrm>
          <a:prstGeom prst="rect">
            <a:avLst/>
          </a:prstGeom>
          <a:noFill/>
          <a:ln/>
        </p:spPr>
        <p:txBody>
          <a:bodyPr wrap="square" lIns="0" tIns="0" rIns="0" bIns="0" rtlCol="0" anchor="t"/>
          <a:lstStyle/>
          <a:p>
            <a:pPr marL="0" indent="0">
              <a:buNone/>
            </a:pPr>
            <a:r>
              <a:rPr lang="en-US" sz="1300" dirty="0">
                <a:solidFill>
                  <a:srgbClr val="5B676A"/>
                </a:solidFill>
              </a:rPr>
              <a:t>Mỗi lượt, mô hình nhận 256 ảnh và 256 mô tả, phải ghép đúng ảnh với mô tả của nó.</a:t>
            </a:r>
            <a:endParaRPr lang="en-US" sz="1300" dirty="0"/>
          </a:p>
        </p:txBody>
      </p:sp>
      <p:sp>
        <p:nvSpPr>
          <p:cNvPr id="8" name="card-102"/>
          <p:cNvSpPr/>
          <p:nvPr/>
        </p:nvSpPr>
        <p:spPr>
          <a:xfrm>
            <a:off x="4663440" y="1234440"/>
            <a:ext cx="4023360" cy="1463040"/>
          </a:xfrm>
          <a:prstGeom prst="roundRect">
            <a:avLst>
              <a:gd name="adj" fmla="val 7500"/>
            </a:avLst>
          </a:prstGeom>
          <a:solidFill>
            <a:schemeClr val="bg2"/>
          </a:solidFill>
          <a:ln w="12700">
            <a:solidFill>
              <a:schemeClr val="bg2"/>
            </a:solidFill>
            <a:prstDash val="solid"/>
          </a:ln>
        </p:spPr>
      </p:sp>
      <p:sp>
        <p:nvSpPr>
          <p:cNvPr id="9" name="badge-103"/>
          <p:cNvSpPr/>
          <p:nvPr/>
        </p:nvSpPr>
        <p:spPr>
          <a:xfrm>
            <a:off x="4892040" y="1508760"/>
            <a:ext cx="594360" cy="594360"/>
          </a:xfrm>
          <a:prstGeom prst="ellipse">
            <a:avLst/>
          </a:prstGeom>
          <a:solidFill>
            <a:schemeClr val="accent1"/>
          </a:solidFill>
          <a:ln w="12700">
            <a:solidFill>
              <a:schemeClr val="accent1"/>
            </a:solidFill>
            <a:prstDash val="solid"/>
          </a:ln>
        </p:spPr>
      </p:sp>
      <p:pic>
        <p:nvPicPr>
          <p:cNvPr id="10" name="icon-104" descr="preencoded.png"/>
          <p:cNvPicPr>
            <a:picLocks noChangeAspect="1"/>
          </p:cNvPicPr>
          <p:nvPr/>
        </p:nvPicPr>
        <p:blipFill>
          <a:blip r:embed="rId4"/>
          <a:stretch>
            <a:fillRect/>
          </a:stretch>
        </p:blipFill>
        <p:spPr>
          <a:xfrm>
            <a:off x="5040630" y="1657350"/>
            <a:ext cx="297180" cy="297180"/>
          </a:xfrm>
          <a:prstGeom prst="rect">
            <a:avLst/>
          </a:prstGeom>
        </p:spPr>
      </p:pic>
      <p:sp>
        <p:nvSpPr>
          <p:cNvPr id="11" name="txt-105"/>
          <p:cNvSpPr txBox="1"/>
          <p:nvPr/>
        </p:nvSpPr>
        <p:spPr>
          <a:xfrm>
            <a:off x="5669280" y="1417320"/>
            <a:ext cx="2834640" cy="365760"/>
          </a:xfrm>
          <a:prstGeom prst="rect">
            <a:avLst/>
          </a:prstGeom>
          <a:noFill/>
          <a:ln/>
        </p:spPr>
        <p:txBody>
          <a:bodyPr wrap="square" lIns="0" tIns="0" rIns="0" bIns="0" rtlCol="0" anchor="t"/>
          <a:lstStyle/>
          <a:p>
            <a:pPr marL="0" indent="0">
              <a:buNone/>
            </a:pPr>
            <a:r>
              <a:rPr lang="en-US" sz="1600" b="1" dirty="0">
                <a:solidFill>
                  <a:schemeClr val="tx1"/>
                </a:solidFill>
              </a:rPr>
              <a:t>Chỉ chỉnh phần cuối</a:t>
            </a:r>
            <a:endParaRPr lang="en-US" sz="1600" dirty="0"/>
          </a:p>
        </p:txBody>
      </p:sp>
      <p:sp>
        <p:nvSpPr>
          <p:cNvPr id="12" name="txt-106"/>
          <p:cNvSpPr txBox="1"/>
          <p:nvPr/>
        </p:nvSpPr>
        <p:spPr>
          <a:xfrm>
            <a:off x="5669280" y="1801368"/>
            <a:ext cx="2834640" cy="822960"/>
          </a:xfrm>
          <a:prstGeom prst="rect">
            <a:avLst/>
          </a:prstGeom>
          <a:noFill/>
          <a:ln/>
        </p:spPr>
        <p:txBody>
          <a:bodyPr wrap="square" lIns="0" tIns="0" rIns="0" bIns="0" rtlCol="0" anchor="t"/>
          <a:lstStyle/>
          <a:p>
            <a:pPr marL="0" indent="0">
              <a:buNone/>
            </a:pPr>
            <a:r>
              <a:rPr lang="en-US" sz="1300" dirty="0">
                <a:solidFill>
                  <a:srgbClr val="5B676A"/>
                </a:solidFill>
              </a:rPr>
              <a:t>Giữ nguyên phần lớn mô hình, chỉ dạy lại 4 tầng cuối (khoảng 27% tham số) để không quên kiến thức cũ.</a:t>
            </a:r>
            <a:endParaRPr lang="en-US" sz="1300" dirty="0"/>
          </a:p>
        </p:txBody>
      </p:sp>
      <p:sp>
        <p:nvSpPr>
          <p:cNvPr id="13" name="card-107"/>
          <p:cNvSpPr/>
          <p:nvPr/>
        </p:nvSpPr>
        <p:spPr>
          <a:xfrm>
            <a:off x="457200" y="2880360"/>
            <a:ext cx="4023360" cy="1463040"/>
          </a:xfrm>
          <a:prstGeom prst="roundRect">
            <a:avLst>
              <a:gd name="adj" fmla="val 7500"/>
            </a:avLst>
          </a:prstGeom>
          <a:solidFill>
            <a:schemeClr val="bg2"/>
          </a:solidFill>
          <a:ln w="12700">
            <a:solidFill>
              <a:schemeClr val="bg2"/>
            </a:solidFill>
            <a:prstDash val="solid"/>
          </a:ln>
        </p:spPr>
      </p:sp>
      <p:sp>
        <p:nvSpPr>
          <p:cNvPr id="14" name="badge-108"/>
          <p:cNvSpPr/>
          <p:nvPr/>
        </p:nvSpPr>
        <p:spPr>
          <a:xfrm>
            <a:off x="685800" y="3154680"/>
            <a:ext cx="594360" cy="594360"/>
          </a:xfrm>
          <a:prstGeom prst="ellipse">
            <a:avLst/>
          </a:prstGeom>
          <a:solidFill>
            <a:schemeClr val="accent2"/>
          </a:solidFill>
          <a:ln w="12700">
            <a:solidFill>
              <a:schemeClr val="accent2"/>
            </a:solidFill>
            <a:prstDash val="solid"/>
          </a:ln>
        </p:spPr>
      </p:sp>
      <p:pic>
        <p:nvPicPr>
          <p:cNvPr id="15" name="icon-109" descr="preencoded.png"/>
          <p:cNvPicPr>
            <a:picLocks noChangeAspect="1"/>
          </p:cNvPicPr>
          <p:nvPr/>
        </p:nvPicPr>
        <p:blipFill>
          <a:blip r:embed="rId5"/>
          <a:stretch>
            <a:fillRect/>
          </a:stretch>
        </p:blipFill>
        <p:spPr>
          <a:xfrm>
            <a:off x="834390" y="3303270"/>
            <a:ext cx="297180" cy="297180"/>
          </a:xfrm>
          <a:prstGeom prst="rect">
            <a:avLst/>
          </a:prstGeom>
        </p:spPr>
      </p:pic>
      <p:sp>
        <p:nvSpPr>
          <p:cNvPr id="16" name="txt-110"/>
          <p:cNvSpPr txBox="1"/>
          <p:nvPr/>
        </p:nvSpPr>
        <p:spPr>
          <a:xfrm>
            <a:off x="1463040" y="3063240"/>
            <a:ext cx="2834640" cy="365760"/>
          </a:xfrm>
          <a:prstGeom prst="rect">
            <a:avLst/>
          </a:prstGeom>
          <a:noFill/>
          <a:ln/>
        </p:spPr>
        <p:txBody>
          <a:bodyPr wrap="square" lIns="0" tIns="0" rIns="0" bIns="0" rtlCol="0" anchor="t"/>
          <a:lstStyle/>
          <a:p>
            <a:pPr marL="0" indent="0">
              <a:buNone/>
            </a:pPr>
            <a:r>
              <a:rPr lang="en-US" sz="1600" b="1" dirty="0">
                <a:solidFill>
                  <a:schemeClr val="tx1"/>
                </a:solidFill>
              </a:rPr>
              <a:t>Chạy trên laptop</a:t>
            </a:r>
            <a:endParaRPr lang="en-US" sz="1600" dirty="0"/>
          </a:p>
        </p:txBody>
      </p:sp>
      <p:sp>
        <p:nvSpPr>
          <p:cNvPr id="17" name="txt-111"/>
          <p:cNvSpPr txBox="1"/>
          <p:nvPr/>
        </p:nvSpPr>
        <p:spPr>
          <a:xfrm>
            <a:off x="1463040" y="3447288"/>
            <a:ext cx="2834640" cy="822960"/>
          </a:xfrm>
          <a:prstGeom prst="rect">
            <a:avLst/>
          </a:prstGeom>
          <a:noFill/>
          <a:ln/>
        </p:spPr>
        <p:txBody>
          <a:bodyPr wrap="square" lIns="0" tIns="0" rIns="0" bIns="0" rtlCol="0" anchor="t"/>
          <a:lstStyle/>
          <a:p>
            <a:pPr marL="0" indent="0">
              <a:buNone/>
            </a:pPr>
            <a:r>
              <a:rPr lang="en-US" sz="1300" dirty="0">
                <a:solidFill>
                  <a:srgbClr val="5B676A"/>
                </a:solidFill>
              </a:rPr>
              <a:t>Tính sẵn phần không đổi một lần, nên train chỉ mất khoảng 65 phút trên CPU, không cần GPU.</a:t>
            </a:r>
            <a:endParaRPr lang="en-US" sz="1300" dirty="0"/>
          </a:p>
        </p:txBody>
      </p:sp>
      <p:sp>
        <p:nvSpPr>
          <p:cNvPr id="18" name="card-112"/>
          <p:cNvSpPr/>
          <p:nvPr/>
        </p:nvSpPr>
        <p:spPr>
          <a:xfrm>
            <a:off x="4663440" y="2880360"/>
            <a:ext cx="4023360" cy="1463040"/>
          </a:xfrm>
          <a:prstGeom prst="roundRect">
            <a:avLst>
              <a:gd name="adj" fmla="val 7500"/>
            </a:avLst>
          </a:prstGeom>
          <a:solidFill>
            <a:schemeClr val="bg2"/>
          </a:solidFill>
          <a:ln w="12700">
            <a:solidFill>
              <a:schemeClr val="bg2"/>
            </a:solidFill>
            <a:prstDash val="solid"/>
          </a:ln>
        </p:spPr>
      </p:sp>
      <p:sp>
        <p:nvSpPr>
          <p:cNvPr id="19" name="badge-113"/>
          <p:cNvSpPr/>
          <p:nvPr/>
        </p:nvSpPr>
        <p:spPr>
          <a:xfrm>
            <a:off x="4892040" y="3154680"/>
            <a:ext cx="594360" cy="594360"/>
          </a:xfrm>
          <a:prstGeom prst="ellipse">
            <a:avLst/>
          </a:prstGeom>
          <a:solidFill>
            <a:schemeClr val="accent1"/>
          </a:solidFill>
          <a:ln w="12700">
            <a:solidFill>
              <a:schemeClr val="accent1"/>
            </a:solidFill>
            <a:prstDash val="solid"/>
          </a:ln>
        </p:spPr>
      </p:sp>
      <p:pic>
        <p:nvPicPr>
          <p:cNvPr id="20" name="icon-114" descr="preencoded.png"/>
          <p:cNvPicPr>
            <a:picLocks noChangeAspect="1"/>
          </p:cNvPicPr>
          <p:nvPr/>
        </p:nvPicPr>
        <p:blipFill>
          <a:blip r:embed="rId6"/>
          <a:stretch>
            <a:fillRect/>
          </a:stretch>
        </p:blipFill>
        <p:spPr>
          <a:xfrm>
            <a:off x="5040630" y="3303270"/>
            <a:ext cx="297180" cy="297180"/>
          </a:xfrm>
          <a:prstGeom prst="rect">
            <a:avLst/>
          </a:prstGeom>
        </p:spPr>
      </p:pic>
      <p:sp>
        <p:nvSpPr>
          <p:cNvPr id="21" name="txt-115"/>
          <p:cNvSpPr txBox="1"/>
          <p:nvPr/>
        </p:nvSpPr>
        <p:spPr>
          <a:xfrm>
            <a:off x="5669280" y="3063240"/>
            <a:ext cx="2834640" cy="365760"/>
          </a:xfrm>
          <a:prstGeom prst="rect">
            <a:avLst/>
          </a:prstGeom>
          <a:noFill/>
          <a:ln/>
        </p:spPr>
        <p:txBody>
          <a:bodyPr wrap="square" lIns="0" tIns="0" rIns="0" bIns="0" rtlCol="0" anchor="t"/>
          <a:lstStyle/>
          <a:p>
            <a:pPr marL="0" indent="0">
              <a:buNone/>
            </a:pPr>
            <a:r>
              <a:rPr lang="en-US" sz="1600" b="1" dirty="0">
                <a:solidFill>
                  <a:schemeClr val="tx1"/>
                </a:solidFill>
              </a:rPr>
              <a:t>Kiểm tra công bằng</a:t>
            </a:r>
            <a:endParaRPr lang="en-US" sz="1600" dirty="0"/>
          </a:p>
        </p:txBody>
      </p:sp>
      <p:sp>
        <p:nvSpPr>
          <p:cNvPr id="22" name="txt-116"/>
          <p:cNvSpPr txBox="1"/>
          <p:nvPr/>
        </p:nvSpPr>
        <p:spPr>
          <a:xfrm>
            <a:off x="5669280" y="3447288"/>
            <a:ext cx="2834640" cy="822960"/>
          </a:xfrm>
          <a:prstGeom prst="rect">
            <a:avLst/>
          </a:prstGeom>
          <a:noFill/>
          <a:ln/>
        </p:spPr>
        <p:txBody>
          <a:bodyPr wrap="square" lIns="0" tIns="0" rIns="0" bIns="0" rtlCol="0" anchor="t"/>
          <a:lstStyle/>
          <a:p>
            <a:pPr marL="0" indent="0">
              <a:buNone/>
            </a:pPr>
            <a:r>
              <a:rPr lang="en-US" sz="1300" dirty="0">
                <a:solidFill>
                  <a:srgbClr val="5B676A"/>
                </a:solidFill>
              </a:rPr>
              <a:t>Tách riêng 776 ảnh để chấm điểm; mô hình không được thấy các ảnh này khi học.</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Kết quả: tìm đúng ảnh nhiều hơn rõ rệt</a:t>
            </a:r>
            <a:endParaRPr lang="en-US" sz="2800" dirty="0"/>
          </a:p>
        </p:txBody>
      </p:sp>
      <p:graphicFrame>
        <p:nvGraphicFramePr>
          <p:cNvPr id="3" name="chart-117"/>
          <p:cNvGraphicFramePr/>
          <p:nvPr/>
        </p:nvGraphicFramePr>
        <p:xfrm>
          <a:off x="457200" y="1143000"/>
          <a:ext cx="539496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118"/>
          <p:cNvSpPr/>
          <p:nvPr/>
        </p:nvSpPr>
        <p:spPr>
          <a:xfrm>
            <a:off x="6126480" y="1234440"/>
            <a:ext cx="2560320" cy="3291840"/>
          </a:xfrm>
          <a:prstGeom prst="roundRect">
            <a:avLst>
              <a:gd name="adj" fmla="val 4286"/>
            </a:avLst>
          </a:prstGeom>
          <a:solidFill>
            <a:schemeClr val="bg2"/>
          </a:solidFill>
          <a:ln w="12700">
            <a:solidFill>
              <a:schemeClr val="bg2"/>
            </a:solidFill>
            <a:prstDash val="solid"/>
          </a:ln>
        </p:spPr>
      </p:sp>
      <p:sp>
        <p:nvSpPr>
          <p:cNvPr id="5" name="txt-119"/>
          <p:cNvSpPr txBox="1"/>
          <p:nvPr/>
        </p:nvSpPr>
        <p:spPr>
          <a:xfrm>
            <a:off x="6355080" y="1463040"/>
            <a:ext cx="2194560" cy="64008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47% → 77%</a:t>
            </a:r>
            <a:endParaRPr lang="en-US" sz="3000" dirty="0"/>
          </a:p>
        </p:txBody>
      </p:sp>
      <p:sp>
        <p:nvSpPr>
          <p:cNvPr id="6" name="txt-120"/>
          <p:cNvSpPr txBox="1"/>
          <p:nvPr/>
        </p:nvSpPr>
        <p:spPr>
          <a:xfrm>
            <a:off x="6355080" y="2103120"/>
            <a:ext cx="2194560" cy="640080"/>
          </a:xfrm>
          <a:prstGeom prst="rect">
            <a:avLst/>
          </a:prstGeom>
          <a:noFill/>
          <a:ln/>
        </p:spPr>
        <p:txBody>
          <a:bodyPr wrap="square" lIns="0" tIns="0" rIns="0" bIns="0" rtlCol="0" anchor="t"/>
          <a:lstStyle/>
          <a:p>
            <a:pPr marL="0" indent="0">
              <a:buNone/>
            </a:pPr>
            <a:r>
              <a:rPr lang="en-US" sz="1300" dirty="0">
                <a:solidFill>
                  <a:srgbClr val="5B676A"/>
                </a:solidFill>
              </a:rPr>
              <a:t>mô tả tìm ra đúng ảnh ngay ở kết quả đầu tiên</a:t>
            </a:r>
            <a:endParaRPr lang="en-US" sz="1300" dirty="0"/>
          </a:p>
        </p:txBody>
      </p:sp>
      <p:sp>
        <p:nvSpPr>
          <p:cNvPr id="7" name="txt-121"/>
          <p:cNvSpPr txBox="1"/>
          <p:nvPr/>
        </p:nvSpPr>
        <p:spPr>
          <a:xfrm>
            <a:off x="6355080" y="2926080"/>
            <a:ext cx="2194560" cy="64008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52% → 86%</a:t>
            </a:r>
            <a:endParaRPr lang="en-US" sz="3000" dirty="0"/>
          </a:p>
        </p:txBody>
      </p:sp>
      <p:sp>
        <p:nvSpPr>
          <p:cNvPr id="8" name="txt-122"/>
          <p:cNvSpPr txBox="1"/>
          <p:nvPr/>
        </p:nvSpPr>
        <p:spPr>
          <a:xfrm>
            <a:off x="6355080" y="3566160"/>
            <a:ext cx="2194560" cy="731520"/>
          </a:xfrm>
          <a:prstGeom prst="rect">
            <a:avLst/>
          </a:prstGeom>
          <a:noFill/>
          <a:ln/>
        </p:spPr>
        <p:txBody>
          <a:bodyPr wrap="square" lIns="0" tIns="0" rIns="0" bIns="0" rtlCol="0" anchor="t"/>
          <a:lstStyle/>
          <a:p>
            <a:pPr marL="0" indent="0">
              <a:buNone/>
            </a:pPr>
            <a:r>
              <a:rPr lang="en-US" sz="1300" dirty="0">
                <a:solidFill>
                  <a:srgbClr val="5B676A"/>
                </a:solidFill>
              </a:rPr>
              <a:t>tìm trong cả kho, ảnh đúng nằm trong 10 kết quả đầu</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Ví dụ: cùng một câu, hai mô hình</a:t>
            </a:r>
            <a:endParaRPr lang="en-US" sz="2800" dirty="0"/>
          </a:p>
        </p:txBody>
      </p:sp>
      <p:pic>
        <p:nvPicPr>
          <p:cNvPr id="3" name="img-123" descr="Top-5 ảnh của CLIP gốc và CLIP đã dạy lại cho câu mô tả cổng chùa Đại Bi"/>
          <p:cNvPicPr>
            <a:picLocks noChangeAspect="1"/>
          </p:cNvPicPr>
          <p:nvPr/>
        </p:nvPicPr>
        <p:blipFill>
          <a:blip r:embed="rId3"/>
          <a:stretch>
            <a:fillRect/>
          </a:stretch>
        </p:blipFill>
        <p:spPr>
          <a:xfrm>
            <a:off x="457200" y="1051560"/>
            <a:ext cx="8229600" cy="3227832"/>
          </a:xfrm>
          <a:prstGeom prst="rect">
            <a:avLst/>
          </a:prstGeom>
        </p:spPr>
      </p:pic>
      <p:sp>
        <p:nvSpPr>
          <p:cNvPr id="4" name="txt-124"/>
          <p:cNvSpPr txBox="1"/>
          <p:nvPr/>
        </p:nvSpPr>
        <p:spPr>
          <a:xfrm>
            <a:off x="457200" y="4343400"/>
            <a:ext cx="8229600" cy="548640"/>
          </a:xfrm>
          <a:prstGeom prst="rect">
            <a:avLst/>
          </a:prstGeom>
          <a:noFill/>
          <a:ln/>
        </p:spPr>
        <p:txBody>
          <a:bodyPr wrap="square" lIns="0" tIns="0" rIns="0" bIns="0" rtlCol="0" anchor="t"/>
          <a:lstStyle/>
          <a:p>
            <a:pPr marL="0" indent="0">
              <a:buNone/>
            </a:pPr>
            <a:r>
              <a:rPr lang="en-US" sz="1300" b="1" dirty="0">
                <a:solidFill>
                  <a:schemeClr val="tx1"/>
                </a:solidFill>
              </a:rPr>
              <a:t>Câu tìm kiếm mô tả cổng chùa Đại Bi. </a:t>
            </a:r>
            <a:r>
              <a:rPr lang="en-US" sz="1300" dirty="0">
                <a:solidFill>
                  <a:schemeClr val="tx1"/>
                </a:solidFill>
              </a:rPr>
              <a:t>CLIP gốc hiểu ý chung nhưng xen vào các ảnh chi tiết rồng trên mái, ảnh đúng bị đẩy xuống hạng 79; mô hình đã dạy lại đưa ảnh đúng lên hạng 1 và gom đúng các ảnh cổng có biển chữ.</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Tìm ảnh giống ảnh: cải thiện ít hơn</a:t>
            </a:r>
            <a:endParaRPr lang="en-US" sz="2800" dirty="0"/>
          </a:p>
        </p:txBody>
      </p:sp>
      <p:graphicFrame>
        <p:nvGraphicFramePr>
          <p:cNvPr id="3" name="chart-125"/>
          <p:cNvGraphicFramePr/>
          <p:nvPr/>
        </p:nvGraphicFramePr>
        <p:xfrm>
          <a:off x="457200" y="1143000"/>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126"/>
          <p:cNvSpPr/>
          <p:nvPr/>
        </p:nvSpPr>
        <p:spPr>
          <a:xfrm>
            <a:off x="5852160" y="1234440"/>
            <a:ext cx="2834640" cy="3291840"/>
          </a:xfrm>
          <a:prstGeom prst="roundRect">
            <a:avLst>
              <a:gd name="adj" fmla="val 3871"/>
            </a:avLst>
          </a:prstGeom>
          <a:solidFill>
            <a:schemeClr val="bg2"/>
          </a:solidFill>
          <a:ln w="12700">
            <a:solidFill>
              <a:schemeClr val="bg2"/>
            </a:solidFill>
            <a:prstDash val="solid"/>
          </a:ln>
        </p:spPr>
      </p:sp>
      <p:sp>
        <p:nvSpPr>
          <p:cNvPr id="5" name="txt-127"/>
          <p:cNvSpPr txBox="1"/>
          <p:nvPr/>
        </p:nvSpPr>
        <p:spPr>
          <a:xfrm>
            <a:off x="6080760" y="1463040"/>
            <a:ext cx="2468880" cy="64008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53% → 58%</a:t>
            </a:r>
            <a:endParaRPr lang="en-US" sz="3000" dirty="0"/>
          </a:p>
        </p:txBody>
      </p:sp>
      <p:sp>
        <p:nvSpPr>
          <p:cNvPr id="6" name="txt-128"/>
          <p:cNvSpPr txBox="1"/>
          <p:nvPr/>
        </p:nvSpPr>
        <p:spPr>
          <a:xfrm>
            <a:off x="6080760" y="2103120"/>
            <a:ext cx="2468880" cy="365760"/>
          </a:xfrm>
          <a:prstGeom prst="rect">
            <a:avLst/>
          </a:prstGeom>
          <a:noFill/>
          <a:ln/>
        </p:spPr>
        <p:txBody>
          <a:bodyPr wrap="square" lIns="0" tIns="0" rIns="0" bIns="0" rtlCol="0" anchor="t"/>
          <a:lstStyle/>
          <a:p>
            <a:pPr marL="0" indent="0">
              <a:buNone/>
            </a:pPr>
            <a:r>
              <a:rPr lang="en-US" sz="1300" dirty="0">
                <a:solidFill>
                  <a:srgbClr val="5B676A"/>
                </a:solidFill>
              </a:rPr>
              <a:t>tính chung mọi công trình</a:t>
            </a:r>
            <a:endParaRPr lang="en-US" sz="1300" dirty="0"/>
          </a:p>
        </p:txBody>
      </p:sp>
      <p:sp>
        <p:nvSpPr>
          <p:cNvPr id="7" name="txt-129"/>
          <p:cNvSpPr txBox="1"/>
          <p:nvPr/>
        </p:nvSpPr>
        <p:spPr>
          <a:xfrm>
            <a:off x="6080760" y="2606040"/>
            <a:ext cx="2468880" cy="1737360"/>
          </a:xfrm>
          <a:prstGeom prst="rect">
            <a:avLst/>
          </a:prstGeom>
          <a:noFill/>
          <a:ln/>
        </p:spPr>
        <p:txBody>
          <a:bodyPr wrap="square" lIns="0" tIns="0" rIns="0" bIns="0" rtlCol="0" anchor="t"/>
          <a:lstStyle/>
          <a:p>
            <a:pPr marL="0" indent="0">
              <a:buNone/>
            </a:pPr>
            <a:r>
              <a:rPr lang="en-US" sz="1300" dirty="0">
                <a:solidFill>
                  <a:schemeClr val="tx1"/>
                </a:solidFill>
              </a:rPr>
              <a:t>Tăng rõ ở công trình có nét kiến trúc riêng (cổng, tháp, chùa). Gần như không đổi với cảnh vườn, vốn ít chi tiết kiến trúc.</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Tìm bằng mô tả: kết hợp ba cách</a:t>
            </a:r>
            <a:endParaRPr lang="en-US" sz="2800" dirty="0"/>
          </a:p>
        </p:txBody>
      </p:sp>
      <p:sp>
        <p:nvSpPr>
          <p:cNvPr id="3" name="card-130"/>
          <p:cNvSpPr/>
          <p:nvPr/>
        </p:nvSpPr>
        <p:spPr>
          <a:xfrm>
            <a:off x="457200" y="1234440"/>
            <a:ext cx="2560320" cy="2514600"/>
          </a:xfrm>
          <a:prstGeom prst="roundRect">
            <a:avLst>
              <a:gd name="adj" fmla="val 4364"/>
            </a:avLst>
          </a:prstGeom>
          <a:solidFill>
            <a:schemeClr val="bg2"/>
          </a:solidFill>
          <a:ln w="12700">
            <a:solidFill>
              <a:schemeClr val="bg2"/>
            </a:solidFill>
            <a:prstDash val="solid"/>
          </a:ln>
        </p:spPr>
      </p:sp>
      <p:sp>
        <p:nvSpPr>
          <p:cNvPr id="4" name="badge-131"/>
          <p:cNvSpPr/>
          <p:nvPr/>
        </p:nvSpPr>
        <p:spPr>
          <a:xfrm>
            <a:off x="731520" y="1463040"/>
            <a:ext cx="548640" cy="548640"/>
          </a:xfrm>
          <a:prstGeom prst="ellipse">
            <a:avLst/>
          </a:prstGeom>
          <a:solidFill>
            <a:schemeClr val="accent1"/>
          </a:solidFill>
          <a:ln w="12700">
            <a:solidFill>
              <a:schemeClr val="accent1"/>
            </a:solidFill>
            <a:prstDash val="solid"/>
          </a:ln>
        </p:spPr>
      </p:sp>
      <p:pic>
        <p:nvPicPr>
          <p:cNvPr id="5" name="icon-132" descr="preencoded.png"/>
          <p:cNvPicPr>
            <a:picLocks noChangeAspect="1"/>
          </p:cNvPicPr>
          <p:nvPr/>
        </p:nvPicPr>
        <p:blipFill>
          <a:blip r:embed="rId3"/>
          <a:stretch>
            <a:fillRect/>
          </a:stretch>
        </p:blipFill>
        <p:spPr>
          <a:xfrm>
            <a:off x="868680" y="1600200"/>
            <a:ext cx="274320" cy="274320"/>
          </a:xfrm>
          <a:prstGeom prst="rect">
            <a:avLst/>
          </a:prstGeom>
        </p:spPr>
      </p:pic>
      <p:sp>
        <p:nvSpPr>
          <p:cNvPr id="6" name="txt-133"/>
          <p:cNvSpPr txBox="1"/>
          <p:nvPr/>
        </p:nvSpPr>
        <p:spPr>
          <a:xfrm>
            <a:off x="1417320" y="1554480"/>
            <a:ext cx="1463040" cy="365760"/>
          </a:xfrm>
          <a:prstGeom prst="rect">
            <a:avLst/>
          </a:prstGeom>
          <a:noFill/>
          <a:ln/>
        </p:spPr>
        <p:txBody>
          <a:bodyPr wrap="square" lIns="0" tIns="0" rIns="0" bIns="0" rtlCol="0" anchor="t"/>
          <a:lstStyle/>
          <a:p>
            <a:pPr marL="0" indent="0">
              <a:buNone/>
            </a:pPr>
            <a:r>
              <a:rPr lang="en-US" sz="1700" b="1" dirty="0">
                <a:solidFill>
                  <a:schemeClr val="tx1"/>
                </a:solidFill>
              </a:rPr>
              <a:t>Từ khóa</a:t>
            </a:r>
            <a:endParaRPr lang="en-US" sz="1700" dirty="0"/>
          </a:p>
        </p:txBody>
      </p:sp>
      <p:sp>
        <p:nvSpPr>
          <p:cNvPr id="7" name="txt-134"/>
          <p:cNvSpPr txBox="1"/>
          <p:nvPr/>
        </p:nvSpPr>
        <p:spPr>
          <a:xfrm>
            <a:off x="731520" y="2194560"/>
            <a:ext cx="2103120" cy="548640"/>
          </a:xfrm>
          <a:prstGeom prst="rect">
            <a:avLst/>
          </a:prstGeom>
          <a:noFill/>
          <a:ln/>
        </p:spPr>
        <p:txBody>
          <a:bodyPr wrap="square" lIns="0" tIns="0" rIns="0" bIns="0" rtlCol="0" anchor="t"/>
          <a:lstStyle/>
          <a:p>
            <a:pPr marL="0" indent="0">
              <a:buNone/>
            </a:pPr>
            <a:r>
              <a:rPr lang="en-US" sz="1300" dirty="0">
                <a:solidFill>
                  <a:srgbClr val="5B676A"/>
                </a:solidFill>
              </a:rPr>
              <a:t>So đúng từng chữ trong mô tả ảnh</a:t>
            </a:r>
            <a:endParaRPr lang="en-US" sz="1300" dirty="0"/>
          </a:p>
        </p:txBody>
      </p:sp>
      <p:sp>
        <p:nvSpPr>
          <p:cNvPr id="8" name="txt-135"/>
          <p:cNvSpPr txBox="1"/>
          <p:nvPr/>
        </p:nvSpPr>
        <p:spPr>
          <a:xfrm>
            <a:off x="731520" y="2788920"/>
            <a:ext cx="2103120" cy="868680"/>
          </a:xfrm>
          <a:prstGeom prst="rect">
            <a:avLst/>
          </a:prstGeom>
          <a:noFill/>
          <a:ln/>
        </p:spPr>
        <p:txBody>
          <a:bodyPr wrap="square" lIns="0" tIns="0" rIns="0" bIns="0" rtlCol="0" anchor="t"/>
          <a:lstStyle/>
          <a:p>
            <a:pPr marL="0" indent="0">
              <a:buNone/>
            </a:pPr>
            <a:r>
              <a:rPr lang="en-US" sz="1300" i="1" dirty="0">
                <a:solidFill>
                  <a:schemeClr val="accent1"/>
                </a:solidFill>
              </a:rPr>
              <a:t>Mạnh với tên riêng: “CHÙA ĐẠI BI”</a:t>
            </a:r>
            <a:endParaRPr lang="en-US" sz="1300" dirty="0"/>
          </a:p>
        </p:txBody>
      </p:sp>
      <p:sp>
        <p:nvSpPr>
          <p:cNvPr id="9" name="card-136"/>
          <p:cNvSpPr/>
          <p:nvPr/>
        </p:nvSpPr>
        <p:spPr>
          <a:xfrm>
            <a:off x="3291840" y="1234440"/>
            <a:ext cx="2560320" cy="2514600"/>
          </a:xfrm>
          <a:prstGeom prst="roundRect">
            <a:avLst>
              <a:gd name="adj" fmla="val 4364"/>
            </a:avLst>
          </a:prstGeom>
          <a:solidFill>
            <a:schemeClr val="bg2"/>
          </a:solidFill>
          <a:ln w="12700">
            <a:solidFill>
              <a:schemeClr val="bg2"/>
            </a:solidFill>
            <a:prstDash val="solid"/>
          </a:ln>
        </p:spPr>
      </p:sp>
      <p:sp>
        <p:nvSpPr>
          <p:cNvPr id="10" name="badge-137"/>
          <p:cNvSpPr/>
          <p:nvPr/>
        </p:nvSpPr>
        <p:spPr>
          <a:xfrm>
            <a:off x="3566160" y="1463040"/>
            <a:ext cx="548640" cy="548640"/>
          </a:xfrm>
          <a:prstGeom prst="ellipse">
            <a:avLst/>
          </a:prstGeom>
          <a:solidFill>
            <a:schemeClr val="accent1"/>
          </a:solidFill>
          <a:ln w="12700">
            <a:solidFill>
              <a:schemeClr val="accent1"/>
            </a:solidFill>
            <a:prstDash val="solid"/>
          </a:ln>
        </p:spPr>
      </p:sp>
      <p:pic>
        <p:nvPicPr>
          <p:cNvPr id="11" name="icon-138" descr="preencoded.png"/>
          <p:cNvPicPr>
            <a:picLocks noChangeAspect="1"/>
          </p:cNvPicPr>
          <p:nvPr/>
        </p:nvPicPr>
        <p:blipFill>
          <a:blip r:embed="rId4"/>
          <a:stretch>
            <a:fillRect/>
          </a:stretch>
        </p:blipFill>
        <p:spPr>
          <a:xfrm>
            <a:off x="3703320" y="1600200"/>
            <a:ext cx="274320" cy="274320"/>
          </a:xfrm>
          <a:prstGeom prst="rect">
            <a:avLst/>
          </a:prstGeom>
        </p:spPr>
      </p:pic>
      <p:sp>
        <p:nvSpPr>
          <p:cNvPr id="12" name="txt-139"/>
          <p:cNvSpPr txBox="1"/>
          <p:nvPr/>
        </p:nvSpPr>
        <p:spPr>
          <a:xfrm>
            <a:off x="4251960" y="1554480"/>
            <a:ext cx="1463040" cy="365760"/>
          </a:xfrm>
          <a:prstGeom prst="rect">
            <a:avLst/>
          </a:prstGeom>
          <a:noFill/>
          <a:ln/>
        </p:spPr>
        <p:txBody>
          <a:bodyPr wrap="square" lIns="0" tIns="0" rIns="0" bIns="0" rtlCol="0" anchor="t"/>
          <a:lstStyle/>
          <a:p>
            <a:pPr marL="0" indent="0">
              <a:buNone/>
            </a:pPr>
            <a:r>
              <a:rPr lang="en-US" sz="1700" b="1" dirty="0">
                <a:solidFill>
                  <a:schemeClr val="tx1"/>
                </a:solidFill>
              </a:rPr>
              <a:t>Ý nghĩa</a:t>
            </a:r>
            <a:endParaRPr lang="en-US" sz="1700" dirty="0"/>
          </a:p>
        </p:txBody>
      </p:sp>
      <p:sp>
        <p:nvSpPr>
          <p:cNvPr id="13" name="txt-140"/>
          <p:cNvSpPr txBox="1"/>
          <p:nvPr/>
        </p:nvSpPr>
        <p:spPr>
          <a:xfrm>
            <a:off x="3566160" y="2194560"/>
            <a:ext cx="2103120" cy="548640"/>
          </a:xfrm>
          <a:prstGeom prst="rect">
            <a:avLst/>
          </a:prstGeom>
          <a:noFill/>
          <a:ln/>
        </p:spPr>
        <p:txBody>
          <a:bodyPr wrap="square" lIns="0" tIns="0" rIns="0" bIns="0" rtlCol="0" anchor="t"/>
          <a:lstStyle/>
          <a:p>
            <a:pPr marL="0" indent="0">
              <a:buNone/>
            </a:pPr>
            <a:r>
              <a:rPr lang="en-US" sz="1300" dirty="0">
                <a:solidFill>
                  <a:srgbClr val="5B676A"/>
                </a:solidFill>
              </a:rPr>
              <a:t>So ý của câu với mô tả ảnh</a:t>
            </a:r>
            <a:endParaRPr lang="en-US" sz="1300" dirty="0"/>
          </a:p>
        </p:txBody>
      </p:sp>
      <p:sp>
        <p:nvSpPr>
          <p:cNvPr id="14" name="txt-141"/>
          <p:cNvSpPr txBox="1"/>
          <p:nvPr/>
        </p:nvSpPr>
        <p:spPr>
          <a:xfrm>
            <a:off x="3566160" y="2788920"/>
            <a:ext cx="2103120" cy="868680"/>
          </a:xfrm>
          <a:prstGeom prst="rect">
            <a:avLst/>
          </a:prstGeom>
          <a:noFill/>
          <a:ln/>
        </p:spPr>
        <p:txBody>
          <a:bodyPr wrap="square" lIns="0" tIns="0" rIns="0" bIns="0" rtlCol="0" anchor="t"/>
          <a:lstStyle/>
          <a:p>
            <a:pPr marL="0" indent="0">
              <a:buNone/>
            </a:pPr>
            <a:r>
              <a:rPr lang="en-US" sz="1300" i="1" dirty="0">
                <a:solidFill>
                  <a:schemeClr val="accent1"/>
                </a:solidFill>
              </a:rPr>
              <a:t>“place of worship” ra nhà thờ, đình làng dù không trùng chữ</a:t>
            </a:r>
            <a:endParaRPr lang="en-US" sz="1300" dirty="0"/>
          </a:p>
        </p:txBody>
      </p:sp>
      <p:sp>
        <p:nvSpPr>
          <p:cNvPr id="15" name="card-142"/>
          <p:cNvSpPr/>
          <p:nvPr/>
        </p:nvSpPr>
        <p:spPr>
          <a:xfrm>
            <a:off x="6126480" y="1234440"/>
            <a:ext cx="2560320" cy="2514600"/>
          </a:xfrm>
          <a:prstGeom prst="roundRect">
            <a:avLst>
              <a:gd name="adj" fmla="val 4364"/>
            </a:avLst>
          </a:prstGeom>
          <a:solidFill>
            <a:schemeClr val="bg2"/>
          </a:solidFill>
          <a:ln w="12700">
            <a:solidFill>
              <a:schemeClr val="bg2"/>
            </a:solidFill>
            <a:prstDash val="solid"/>
          </a:ln>
        </p:spPr>
      </p:sp>
      <p:sp>
        <p:nvSpPr>
          <p:cNvPr id="16" name="badge-143"/>
          <p:cNvSpPr/>
          <p:nvPr/>
        </p:nvSpPr>
        <p:spPr>
          <a:xfrm>
            <a:off x="6400800" y="1463040"/>
            <a:ext cx="548640" cy="548640"/>
          </a:xfrm>
          <a:prstGeom prst="ellipse">
            <a:avLst/>
          </a:prstGeom>
          <a:solidFill>
            <a:schemeClr val="accent2"/>
          </a:solidFill>
          <a:ln w="12700">
            <a:solidFill>
              <a:schemeClr val="accent2"/>
            </a:solidFill>
            <a:prstDash val="solid"/>
          </a:ln>
        </p:spPr>
      </p:sp>
      <p:pic>
        <p:nvPicPr>
          <p:cNvPr id="17" name="icon-144" descr="preencoded.png"/>
          <p:cNvPicPr>
            <a:picLocks noChangeAspect="1"/>
          </p:cNvPicPr>
          <p:nvPr/>
        </p:nvPicPr>
        <p:blipFill>
          <a:blip r:embed="rId5"/>
          <a:stretch>
            <a:fillRect/>
          </a:stretch>
        </p:blipFill>
        <p:spPr>
          <a:xfrm>
            <a:off x="6537960" y="1600200"/>
            <a:ext cx="274320" cy="274320"/>
          </a:xfrm>
          <a:prstGeom prst="rect">
            <a:avLst/>
          </a:prstGeom>
        </p:spPr>
      </p:pic>
      <p:sp>
        <p:nvSpPr>
          <p:cNvPr id="18" name="txt-145"/>
          <p:cNvSpPr txBox="1"/>
          <p:nvPr/>
        </p:nvSpPr>
        <p:spPr>
          <a:xfrm>
            <a:off x="7086600" y="1554480"/>
            <a:ext cx="1463040" cy="365760"/>
          </a:xfrm>
          <a:prstGeom prst="rect">
            <a:avLst/>
          </a:prstGeom>
          <a:noFill/>
          <a:ln/>
        </p:spPr>
        <p:txBody>
          <a:bodyPr wrap="square" lIns="0" tIns="0" rIns="0" bIns="0" rtlCol="0" anchor="t"/>
          <a:lstStyle/>
          <a:p>
            <a:pPr marL="0" indent="0">
              <a:buNone/>
            </a:pPr>
            <a:r>
              <a:rPr lang="en-US" sz="1700" b="1" dirty="0">
                <a:solidFill>
                  <a:schemeClr val="tx1"/>
                </a:solidFill>
              </a:rPr>
              <a:t>Nội dung ảnh</a:t>
            </a:r>
            <a:endParaRPr lang="en-US" sz="1700" dirty="0"/>
          </a:p>
        </p:txBody>
      </p:sp>
      <p:sp>
        <p:nvSpPr>
          <p:cNvPr id="19" name="txt-146"/>
          <p:cNvSpPr txBox="1"/>
          <p:nvPr/>
        </p:nvSpPr>
        <p:spPr>
          <a:xfrm>
            <a:off x="6400800" y="2194560"/>
            <a:ext cx="2103120" cy="548640"/>
          </a:xfrm>
          <a:prstGeom prst="rect">
            <a:avLst/>
          </a:prstGeom>
          <a:noFill/>
          <a:ln/>
        </p:spPr>
        <p:txBody>
          <a:bodyPr wrap="square" lIns="0" tIns="0" rIns="0" bIns="0" rtlCol="0" anchor="t"/>
          <a:lstStyle/>
          <a:p>
            <a:pPr marL="0" indent="0">
              <a:buNone/>
            </a:pPr>
            <a:r>
              <a:rPr lang="en-US" sz="1300" dirty="0">
                <a:solidFill>
                  <a:srgbClr val="5B676A"/>
                </a:solidFill>
              </a:rPr>
              <a:t>Dùng CLIP so câu với chính tấm ảnh</a:t>
            </a:r>
            <a:endParaRPr lang="en-US" sz="1300" dirty="0"/>
          </a:p>
        </p:txBody>
      </p:sp>
      <p:sp>
        <p:nvSpPr>
          <p:cNvPr id="20" name="txt-147"/>
          <p:cNvSpPr txBox="1"/>
          <p:nvPr/>
        </p:nvSpPr>
        <p:spPr>
          <a:xfrm>
            <a:off x="6400800" y="2788920"/>
            <a:ext cx="2103120" cy="868680"/>
          </a:xfrm>
          <a:prstGeom prst="rect">
            <a:avLst/>
          </a:prstGeom>
          <a:noFill/>
          <a:ln/>
        </p:spPr>
        <p:txBody>
          <a:bodyPr wrap="square" lIns="0" tIns="0" rIns="0" bIns="0" rtlCol="0" anchor="t"/>
          <a:lstStyle/>
          <a:p>
            <a:pPr marL="0" indent="0">
              <a:buNone/>
            </a:pPr>
            <a:r>
              <a:rPr lang="en-US" sz="1300" i="1" dirty="0">
                <a:solidFill>
                  <a:schemeClr val="accent1"/>
                </a:solidFill>
              </a:rPr>
              <a:t>“ladder against a wall” ra cả ảnh có thang mà mô tả không ghi</a:t>
            </a:r>
            <a:endParaRPr lang="en-US" sz="1300" dirty="0"/>
          </a:p>
        </p:txBody>
      </p:sp>
      <p:sp>
        <p:nvSpPr>
          <p:cNvPr id="21" name="card-148"/>
          <p:cNvSpPr/>
          <p:nvPr/>
        </p:nvSpPr>
        <p:spPr>
          <a:xfrm>
            <a:off x="457200" y="3931920"/>
            <a:ext cx="8229600" cy="594360"/>
          </a:xfrm>
          <a:prstGeom prst="roundRect">
            <a:avLst>
              <a:gd name="adj" fmla="val 18462"/>
            </a:avLst>
          </a:prstGeom>
          <a:solidFill>
            <a:schemeClr val="tx1"/>
          </a:solidFill>
          <a:ln w="12700">
            <a:solidFill>
              <a:schemeClr val="tx1"/>
            </a:solidFill>
            <a:prstDash val="solid"/>
          </a:ln>
        </p:spPr>
      </p:sp>
      <p:sp>
        <p:nvSpPr>
          <p:cNvPr id="22" name="txt-149"/>
          <p:cNvSpPr txBox="1"/>
          <p:nvPr/>
        </p:nvSpPr>
        <p:spPr>
          <a:xfrm>
            <a:off x="685800" y="3931920"/>
            <a:ext cx="7772400" cy="594360"/>
          </a:xfrm>
          <a:prstGeom prst="rect">
            <a:avLst/>
          </a:prstGeom>
          <a:noFill/>
          <a:ln/>
        </p:spPr>
        <p:txBody>
          <a:bodyPr wrap="square" lIns="0" tIns="0" rIns="0" bIns="0" rtlCol="0" anchor="ctr"/>
          <a:lstStyle/>
          <a:p>
            <a:pPr marL="0" indent="0">
              <a:buNone/>
            </a:pPr>
            <a:r>
              <a:rPr lang="en-US" sz="1400" dirty="0">
                <a:solidFill>
                  <a:schemeClr val="bg1"/>
                </a:solidFill>
              </a:rPr>
              <a:t>Ảnh được nhiều cách cùng xếp cao sẽ lên đầu. Mỗi kết quả có nhãn cho biết cách nào đã tìm ra nó.</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Các thành phần của hệ thống</a:t>
            </a:r>
            <a:endParaRPr lang="en-US" sz="2800" dirty="0"/>
          </a:p>
        </p:txBody>
      </p:sp>
      <p:sp>
        <p:nvSpPr>
          <p:cNvPr id="3" name="card-150"/>
          <p:cNvSpPr/>
          <p:nvPr/>
        </p:nvSpPr>
        <p:spPr>
          <a:xfrm>
            <a:off x="457200" y="1463040"/>
            <a:ext cx="2560320" cy="1828800"/>
          </a:xfrm>
          <a:prstGeom prst="roundRect">
            <a:avLst>
              <a:gd name="adj" fmla="val 6000"/>
            </a:avLst>
          </a:prstGeom>
          <a:solidFill>
            <a:schemeClr val="bg2"/>
          </a:solidFill>
          <a:ln w="12700">
            <a:solidFill>
              <a:schemeClr val="bg2"/>
            </a:solidFill>
            <a:prstDash val="solid"/>
          </a:ln>
        </p:spPr>
      </p:sp>
      <p:sp>
        <p:nvSpPr>
          <p:cNvPr id="4" name="badge-151"/>
          <p:cNvSpPr/>
          <p:nvPr/>
        </p:nvSpPr>
        <p:spPr>
          <a:xfrm>
            <a:off x="1417320" y="1645920"/>
            <a:ext cx="640080" cy="640080"/>
          </a:xfrm>
          <a:prstGeom prst="ellipse">
            <a:avLst/>
          </a:prstGeom>
          <a:solidFill>
            <a:schemeClr val="accent1"/>
          </a:solidFill>
          <a:ln w="12700">
            <a:solidFill>
              <a:schemeClr val="accent1"/>
            </a:solidFill>
            <a:prstDash val="solid"/>
          </a:ln>
        </p:spPr>
      </p:sp>
      <p:pic>
        <p:nvPicPr>
          <p:cNvPr id="5" name="icon-152" descr="preencoded.png"/>
          <p:cNvPicPr>
            <a:picLocks noChangeAspect="1"/>
          </p:cNvPicPr>
          <p:nvPr/>
        </p:nvPicPr>
        <p:blipFill>
          <a:blip r:embed="rId3"/>
          <a:stretch>
            <a:fillRect/>
          </a:stretch>
        </p:blipFill>
        <p:spPr>
          <a:xfrm>
            <a:off x="1577340" y="1805940"/>
            <a:ext cx="320040" cy="320040"/>
          </a:xfrm>
          <a:prstGeom prst="rect">
            <a:avLst/>
          </a:prstGeom>
        </p:spPr>
      </p:pic>
      <p:sp>
        <p:nvSpPr>
          <p:cNvPr id="6" name="txt-153"/>
          <p:cNvSpPr txBox="1"/>
          <p:nvPr/>
        </p:nvSpPr>
        <p:spPr>
          <a:xfrm>
            <a:off x="640080" y="2377440"/>
            <a:ext cx="2194560" cy="365760"/>
          </a:xfrm>
          <a:prstGeom prst="rect">
            <a:avLst/>
          </a:prstGeom>
          <a:noFill/>
          <a:ln/>
        </p:spPr>
        <p:txBody>
          <a:bodyPr wrap="square" lIns="0" tIns="0" rIns="0" bIns="0" rtlCol="0" anchor="t"/>
          <a:lstStyle/>
          <a:p>
            <a:pPr marL="0" indent="0" algn="ctr">
              <a:buNone/>
            </a:pPr>
            <a:r>
              <a:rPr lang="en-US" sz="1600" b="1" dirty="0">
                <a:solidFill>
                  <a:schemeClr val="tx1"/>
                </a:solidFill>
              </a:rPr>
              <a:t>Giao diện web</a:t>
            </a:r>
            <a:endParaRPr lang="en-US" sz="1600" dirty="0"/>
          </a:p>
        </p:txBody>
      </p:sp>
      <p:sp>
        <p:nvSpPr>
          <p:cNvPr id="7" name="txt-154"/>
          <p:cNvSpPr txBox="1"/>
          <p:nvPr/>
        </p:nvSpPr>
        <p:spPr>
          <a:xfrm>
            <a:off x="640080" y="2743200"/>
            <a:ext cx="2194560" cy="502920"/>
          </a:xfrm>
          <a:prstGeom prst="rect">
            <a:avLst/>
          </a:prstGeom>
          <a:noFill/>
          <a:ln/>
        </p:spPr>
        <p:txBody>
          <a:bodyPr wrap="square" lIns="0" tIns="0" rIns="0" bIns="0" rtlCol="0" anchor="t"/>
          <a:lstStyle/>
          <a:p>
            <a:pPr marL="0" indent="0" algn="ctr">
              <a:buNone/>
            </a:pPr>
            <a:r>
              <a:rPr lang="en-US" sz="1200" dirty="0">
                <a:solidFill>
                  <a:srgbClr val="5B676A"/>
                </a:solidFill>
              </a:rPr>
              <a:t>Tìm kiếm, xem chi tiết, thêm ảnh</a:t>
            </a:r>
            <a:endParaRPr lang="en-US" sz="1200" dirty="0"/>
          </a:p>
        </p:txBody>
      </p:sp>
      <p:sp>
        <p:nvSpPr>
          <p:cNvPr id="8" name="card-155"/>
          <p:cNvSpPr/>
          <p:nvPr/>
        </p:nvSpPr>
        <p:spPr>
          <a:xfrm>
            <a:off x="3291840" y="1463040"/>
            <a:ext cx="2560320" cy="1828800"/>
          </a:xfrm>
          <a:prstGeom prst="roundRect">
            <a:avLst>
              <a:gd name="adj" fmla="val 6000"/>
            </a:avLst>
          </a:prstGeom>
          <a:solidFill>
            <a:schemeClr val="bg2"/>
          </a:solidFill>
          <a:ln w="12700">
            <a:solidFill>
              <a:schemeClr val="bg2"/>
            </a:solidFill>
            <a:prstDash val="solid"/>
          </a:ln>
        </p:spPr>
      </p:sp>
      <p:sp>
        <p:nvSpPr>
          <p:cNvPr id="9" name="badge-156"/>
          <p:cNvSpPr/>
          <p:nvPr/>
        </p:nvSpPr>
        <p:spPr>
          <a:xfrm>
            <a:off x="4251960" y="1645920"/>
            <a:ext cx="640080" cy="640080"/>
          </a:xfrm>
          <a:prstGeom prst="ellipse">
            <a:avLst/>
          </a:prstGeom>
          <a:solidFill>
            <a:schemeClr val="accent1"/>
          </a:solidFill>
          <a:ln w="12700">
            <a:solidFill>
              <a:schemeClr val="accent1"/>
            </a:solidFill>
            <a:prstDash val="solid"/>
          </a:ln>
        </p:spPr>
      </p:sp>
      <p:pic>
        <p:nvPicPr>
          <p:cNvPr id="10" name="icon-157" descr="preencoded.png"/>
          <p:cNvPicPr>
            <a:picLocks noChangeAspect="1"/>
          </p:cNvPicPr>
          <p:nvPr/>
        </p:nvPicPr>
        <p:blipFill>
          <a:blip r:embed="rId4"/>
          <a:stretch>
            <a:fillRect/>
          </a:stretch>
        </p:blipFill>
        <p:spPr>
          <a:xfrm>
            <a:off x="4411980" y="1805940"/>
            <a:ext cx="320040" cy="320040"/>
          </a:xfrm>
          <a:prstGeom prst="rect">
            <a:avLst/>
          </a:prstGeom>
        </p:spPr>
      </p:pic>
      <p:sp>
        <p:nvSpPr>
          <p:cNvPr id="11" name="txt-158"/>
          <p:cNvSpPr txBox="1"/>
          <p:nvPr/>
        </p:nvSpPr>
        <p:spPr>
          <a:xfrm>
            <a:off x="3474720" y="2377440"/>
            <a:ext cx="2194560" cy="365760"/>
          </a:xfrm>
          <a:prstGeom prst="rect">
            <a:avLst/>
          </a:prstGeom>
          <a:noFill/>
          <a:ln/>
        </p:spPr>
        <p:txBody>
          <a:bodyPr wrap="square" lIns="0" tIns="0" rIns="0" bIns="0" rtlCol="0" anchor="t"/>
          <a:lstStyle/>
          <a:p>
            <a:pPr marL="0" indent="0" algn="ctr">
              <a:buNone/>
            </a:pPr>
            <a:r>
              <a:rPr lang="en-US" sz="1600" b="1" dirty="0">
                <a:solidFill>
                  <a:schemeClr val="tx1"/>
                </a:solidFill>
              </a:rPr>
              <a:t>Máy chủ (FastAPI)</a:t>
            </a:r>
            <a:endParaRPr lang="en-US" sz="1600" dirty="0"/>
          </a:p>
        </p:txBody>
      </p:sp>
      <p:sp>
        <p:nvSpPr>
          <p:cNvPr id="12" name="txt-159"/>
          <p:cNvSpPr txBox="1"/>
          <p:nvPr/>
        </p:nvSpPr>
        <p:spPr>
          <a:xfrm>
            <a:off x="3474720" y="2743200"/>
            <a:ext cx="2194560" cy="502920"/>
          </a:xfrm>
          <a:prstGeom prst="rect">
            <a:avLst/>
          </a:prstGeom>
          <a:noFill/>
          <a:ln/>
        </p:spPr>
        <p:txBody>
          <a:bodyPr wrap="square" lIns="0" tIns="0" rIns="0" bIns="0" rtlCol="0" anchor="t"/>
          <a:lstStyle/>
          <a:p>
            <a:pPr marL="0" indent="0" algn="ctr">
              <a:buNone/>
            </a:pPr>
            <a:r>
              <a:rPr lang="en-US" sz="1200" dirty="0">
                <a:solidFill>
                  <a:srgbClr val="5B676A"/>
                </a:solidFill>
              </a:rPr>
              <a:t>Nhận yêu cầu, gọi mô hình, trộn kết quả</a:t>
            </a:r>
            <a:endParaRPr lang="en-US" sz="1200" dirty="0"/>
          </a:p>
        </p:txBody>
      </p:sp>
      <p:sp>
        <p:nvSpPr>
          <p:cNvPr id="13" name="card-160"/>
          <p:cNvSpPr/>
          <p:nvPr/>
        </p:nvSpPr>
        <p:spPr>
          <a:xfrm>
            <a:off x="6126480" y="1463040"/>
            <a:ext cx="2560320" cy="1828800"/>
          </a:xfrm>
          <a:prstGeom prst="roundRect">
            <a:avLst>
              <a:gd name="adj" fmla="val 6000"/>
            </a:avLst>
          </a:prstGeom>
          <a:solidFill>
            <a:schemeClr val="bg2"/>
          </a:solidFill>
          <a:ln w="12700">
            <a:solidFill>
              <a:schemeClr val="bg2"/>
            </a:solidFill>
            <a:prstDash val="solid"/>
          </a:ln>
        </p:spPr>
      </p:sp>
      <p:sp>
        <p:nvSpPr>
          <p:cNvPr id="14" name="badge-161"/>
          <p:cNvSpPr/>
          <p:nvPr/>
        </p:nvSpPr>
        <p:spPr>
          <a:xfrm>
            <a:off x="7086600" y="1645920"/>
            <a:ext cx="640080" cy="640080"/>
          </a:xfrm>
          <a:prstGeom prst="ellipse">
            <a:avLst/>
          </a:prstGeom>
          <a:solidFill>
            <a:schemeClr val="accent1"/>
          </a:solidFill>
          <a:ln w="12700">
            <a:solidFill>
              <a:schemeClr val="accent1"/>
            </a:solidFill>
            <a:prstDash val="solid"/>
          </a:ln>
        </p:spPr>
      </p:sp>
      <p:pic>
        <p:nvPicPr>
          <p:cNvPr id="15" name="icon-162" descr="preencoded.png"/>
          <p:cNvPicPr>
            <a:picLocks noChangeAspect="1"/>
          </p:cNvPicPr>
          <p:nvPr/>
        </p:nvPicPr>
        <p:blipFill>
          <a:blip r:embed="rId5"/>
          <a:stretch>
            <a:fillRect/>
          </a:stretch>
        </p:blipFill>
        <p:spPr>
          <a:xfrm>
            <a:off x="7246620" y="1805940"/>
            <a:ext cx="320040" cy="320040"/>
          </a:xfrm>
          <a:prstGeom prst="rect">
            <a:avLst/>
          </a:prstGeom>
        </p:spPr>
      </p:pic>
      <p:sp>
        <p:nvSpPr>
          <p:cNvPr id="16" name="txt-163"/>
          <p:cNvSpPr txBox="1"/>
          <p:nvPr/>
        </p:nvSpPr>
        <p:spPr>
          <a:xfrm>
            <a:off x="6309360" y="2377440"/>
            <a:ext cx="2194560" cy="365760"/>
          </a:xfrm>
          <a:prstGeom prst="rect">
            <a:avLst/>
          </a:prstGeom>
          <a:noFill/>
          <a:ln/>
        </p:spPr>
        <p:txBody>
          <a:bodyPr wrap="square" lIns="0" tIns="0" rIns="0" bIns="0" rtlCol="0" anchor="t"/>
          <a:lstStyle/>
          <a:p>
            <a:pPr marL="0" indent="0" algn="ctr">
              <a:buNone/>
            </a:pPr>
            <a:r>
              <a:rPr lang="en-US" sz="1600" b="1" dirty="0">
                <a:solidFill>
                  <a:schemeClr val="tx1"/>
                </a:solidFill>
              </a:rPr>
              <a:t>Qdrant + kho ảnh</a:t>
            </a:r>
            <a:endParaRPr lang="en-US" sz="1600" dirty="0"/>
          </a:p>
        </p:txBody>
      </p:sp>
      <p:sp>
        <p:nvSpPr>
          <p:cNvPr id="17" name="txt-164"/>
          <p:cNvSpPr txBox="1"/>
          <p:nvPr/>
        </p:nvSpPr>
        <p:spPr>
          <a:xfrm>
            <a:off x="6309360" y="2743200"/>
            <a:ext cx="2194560" cy="502920"/>
          </a:xfrm>
          <a:prstGeom prst="rect">
            <a:avLst/>
          </a:prstGeom>
          <a:noFill/>
          <a:ln/>
        </p:spPr>
        <p:txBody>
          <a:bodyPr wrap="square" lIns="0" tIns="0" rIns="0" bIns="0" rtlCol="0" anchor="t"/>
          <a:lstStyle/>
          <a:p>
            <a:pPr marL="0" indent="0" algn="ctr">
              <a:buNone/>
            </a:pPr>
            <a:r>
              <a:rPr lang="en-US" sz="1200" dirty="0">
                <a:solidFill>
                  <a:srgbClr val="5B676A"/>
                </a:solidFill>
              </a:rPr>
              <a:t>Lưu “tọa độ” của ảnh và mô tả, và file ảnh gốc</a:t>
            </a:r>
            <a:endParaRPr lang="en-US" sz="1200" dirty="0"/>
          </a:p>
        </p:txBody>
      </p:sp>
      <p:sp>
        <p:nvSpPr>
          <p:cNvPr id="18" name="arrow-165"/>
          <p:cNvSpPr/>
          <p:nvPr/>
        </p:nvSpPr>
        <p:spPr>
          <a:xfrm>
            <a:off x="3035808" y="2240280"/>
            <a:ext cx="237744" cy="274320"/>
          </a:xfrm>
          <a:prstGeom prst="leftRightArrow">
            <a:avLst/>
          </a:prstGeom>
          <a:solidFill>
            <a:schemeClr val="accent5"/>
          </a:solidFill>
          <a:ln w="12700">
            <a:solidFill>
              <a:schemeClr val="accent5"/>
            </a:solidFill>
            <a:prstDash val="solid"/>
          </a:ln>
        </p:spPr>
      </p:sp>
      <p:sp>
        <p:nvSpPr>
          <p:cNvPr id="19" name="arrow-166"/>
          <p:cNvSpPr/>
          <p:nvPr/>
        </p:nvSpPr>
        <p:spPr>
          <a:xfrm>
            <a:off x="5870448" y="2240280"/>
            <a:ext cx="237744" cy="274320"/>
          </a:xfrm>
          <a:prstGeom prst="leftRightArrow">
            <a:avLst/>
          </a:prstGeom>
          <a:solidFill>
            <a:schemeClr val="accent5"/>
          </a:solidFill>
          <a:ln w="12700">
            <a:solidFill>
              <a:schemeClr val="accent5"/>
            </a:solidFill>
            <a:prstDash val="solid"/>
          </a:ln>
        </p:spPr>
      </p:sp>
      <p:sp>
        <p:nvSpPr>
          <p:cNvPr id="20" name="badge-167"/>
          <p:cNvSpPr/>
          <p:nvPr/>
        </p:nvSpPr>
        <p:spPr>
          <a:xfrm>
            <a:off x="3291840" y="3749040"/>
            <a:ext cx="502920" cy="502920"/>
          </a:xfrm>
          <a:prstGeom prst="ellipse">
            <a:avLst/>
          </a:prstGeom>
          <a:solidFill>
            <a:schemeClr val="accent2"/>
          </a:solidFill>
          <a:ln w="12700">
            <a:solidFill>
              <a:schemeClr val="accent2"/>
            </a:solidFill>
            <a:prstDash val="solid"/>
          </a:ln>
        </p:spPr>
      </p:sp>
      <p:pic>
        <p:nvPicPr>
          <p:cNvPr id="21" name="icon-168" descr="preencoded.png"/>
          <p:cNvPicPr>
            <a:picLocks noChangeAspect="1"/>
          </p:cNvPicPr>
          <p:nvPr/>
        </p:nvPicPr>
        <p:blipFill>
          <a:blip r:embed="rId6"/>
          <a:stretch>
            <a:fillRect/>
          </a:stretch>
        </p:blipFill>
        <p:spPr>
          <a:xfrm>
            <a:off x="3417570" y="3874770"/>
            <a:ext cx="251460" cy="251460"/>
          </a:xfrm>
          <a:prstGeom prst="rect">
            <a:avLst/>
          </a:prstGeom>
        </p:spPr>
      </p:pic>
      <p:sp>
        <p:nvSpPr>
          <p:cNvPr id="22" name="txt-169"/>
          <p:cNvSpPr txBox="1"/>
          <p:nvPr/>
        </p:nvSpPr>
        <p:spPr>
          <a:xfrm>
            <a:off x="3931920" y="3749040"/>
            <a:ext cx="4754880" cy="685800"/>
          </a:xfrm>
          <a:prstGeom prst="rect">
            <a:avLst/>
          </a:prstGeom>
          <a:noFill/>
          <a:ln/>
        </p:spPr>
        <p:txBody>
          <a:bodyPr wrap="square" lIns="0" tIns="0" rIns="0" bIns="0" rtlCol="0" anchor="t"/>
          <a:lstStyle/>
          <a:p>
            <a:pPr marL="0" indent="0">
              <a:buNone/>
            </a:pPr>
            <a:r>
              <a:rPr lang="en-US" sz="1300" dirty="0">
                <a:solidFill>
                  <a:schemeClr val="tx1"/>
                </a:solidFill>
              </a:rPr>
              <a:t>Mô hình CLIP đã dạy lại và mô hình hiểu câu chạy trong máy chủ; đổi mô hình chỉ cần tính lại “tọa độ” ảnh.</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Demo</a:t>
            </a:r>
            <a:endParaRPr lang="en-US" sz="2800" dirty="0"/>
          </a:p>
        </p:txBody>
      </p:sp>
      <p:sp>
        <p:nvSpPr>
          <p:cNvPr id="3" name="num-170"/>
          <p:cNvSpPr/>
          <p:nvPr/>
        </p:nvSpPr>
        <p:spPr>
          <a:xfrm>
            <a:off x="457200" y="1234440"/>
            <a:ext cx="548640" cy="548640"/>
          </a:xfrm>
          <a:prstGeom prst="ellipse">
            <a:avLst/>
          </a:prstGeom>
          <a:solidFill>
            <a:schemeClr val="accent1"/>
          </a:solidFill>
          <a:ln w="12700">
            <a:solidFill>
              <a:schemeClr val="accent1"/>
            </a:solidFill>
            <a:prstDash val="solid"/>
          </a:ln>
        </p:spPr>
      </p:sp>
      <p:sp>
        <p:nvSpPr>
          <p:cNvPr id="4" name="txt-171"/>
          <p:cNvSpPr txBox="1"/>
          <p:nvPr/>
        </p:nvSpPr>
        <p:spPr>
          <a:xfrm>
            <a:off x="457200" y="1234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xt-172"/>
          <p:cNvSpPr txBox="1"/>
          <p:nvPr/>
        </p:nvSpPr>
        <p:spPr>
          <a:xfrm>
            <a:off x="1234440" y="1216152"/>
            <a:ext cx="4206240" cy="320040"/>
          </a:xfrm>
          <a:prstGeom prst="rect">
            <a:avLst/>
          </a:prstGeom>
          <a:noFill/>
          <a:ln/>
        </p:spPr>
        <p:txBody>
          <a:bodyPr wrap="square" lIns="0" tIns="0" rIns="0" bIns="0" rtlCol="0" anchor="t"/>
          <a:lstStyle/>
          <a:p>
            <a:pPr marL="0" indent="0">
              <a:buNone/>
            </a:pPr>
            <a:r>
              <a:rPr lang="en-US" sz="1600" b="1" dirty="0">
                <a:solidFill>
                  <a:schemeClr val="tx1"/>
                </a:solidFill>
              </a:rPr>
              <a:t>Gõ “brick Cham tower”</a:t>
            </a:r>
            <a:endParaRPr lang="en-US" sz="1600" dirty="0"/>
          </a:p>
        </p:txBody>
      </p:sp>
      <p:sp>
        <p:nvSpPr>
          <p:cNvPr id="6" name="txt-173"/>
          <p:cNvSpPr txBox="1"/>
          <p:nvPr/>
        </p:nvSpPr>
        <p:spPr>
          <a:xfrm>
            <a:off x="1234440" y="1536192"/>
            <a:ext cx="4206240" cy="274320"/>
          </a:xfrm>
          <a:prstGeom prst="rect">
            <a:avLst/>
          </a:prstGeom>
          <a:noFill/>
          <a:ln/>
        </p:spPr>
        <p:txBody>
          <a:bodyPr wrap="square" lIns="0" tIns="0" rIns="0" bIns="0" rtlCol="0" anchor="t"/>
          <a:lstStyle/>
          <a:p>
            <a:pPr marL="0" indent="0">
              <a:buNone/>
            </a:pPr>
            <a:r>
              <a:rPr lang="en-US" sz="1300" dirty="0">
                <a:solidFill>
                  <a:srgbClr val="5B676A"/>
                </a:solidFill>
              </a:rPr>
              <a:t>xem kết quả và các nhãn từ khóa / ý nghĩa / ảnh</a:t>
            </a:r>
            <a:endParaRPr lang="en-US" sz="1300" dirty="0"/>
          </a:p>
        </p:txBody>
      </p:sp>
      <p:sp>
        <p:nvSpPr>
          <p:cNvPr id="7" name="num-174"/>
          <p:cNvSpPr/>
          <p:nvPr/>
        </p:nvSpPr>
        <p:spPr>
          <a:xfrm>
            <a:off x="457200" y="2057400"/>
            <a:ext cx="548640" cy="548640"/>
          </a:xfrm>
          <a:prstGeom prst="ellipse">
            <a:avLst/>
          </a:prstGeom>
          <a:solidFill>
            <a:schemeClr val="accent1"/>
          </a:solidFill>
          <a:ln w="12700">
            <a:solidFill>
              <a:schemeClr val="accent1"/>
            </a:solidFill>
            <a:prstDash val="solid"/>
          </a:ln>
        </p:spPr>
      </p:sp>
      <p:sp>
        <p:nvSpPr>
          <p:cNvPr id="8" name="txt-175"/>
          <p:cNvSpPr txBox="1"/>
          <p:nvPr/>
        </p:nvSpPr>
        <p:spPr>
          <a:xfrm>
            <a:off x="457200"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xt-176"/>
          <p:cNvSpPr txBox="1"/>
          <p:nvPr/>
        </p:nvSpPr>
        <p:spPr>
          <a:xfrm>
            <a:off x="1234440" y="2039112"/>
            <a:ext cx="4206240" cy="320040"/>
          </a:xfrm>
          <a:prstGeom prst="rect">
            <a:avLst/>
          </a:prstGeom>
          <a:noFill/>
          <a:ln/>
        </p:spPr>
        <p:txBody>
          <a:bodyPr wrap="square" lIns="0" tIns="0" rIns="0" bIns="0" rtlCol="0" anchor="t"/>
          <a:lstStyle/>
          <a:p>
            <a:pPr marL="0" indent="0">
              <a:buNone/>
            </a:pPr>
            <a:r>
              <a:rPr lang="en-US" sz="1600" b="1" dirty="0">
                <a:solidFill>
                  <a:schemeClr val="tx1"/>
                </a:solidFill>
              </a:rPr>
              <a:t>Gõ “place of worship”</a:t>
            </a:r>
            <a:endParaRPr lang="en-US" sz="1600" dirty="0"/>
          </a:p>
        </p:txBody>
      </p:sp>
      <p:sp>
        <p:nvSpPr>
          <p:cNvPr id="10" name="txt-177"/>
          <p:cNvSpPr txBox="1"/>
          <p:nvPr/>
        </p:nvSpPr>
        <p:spPr>
          <a:xfrm>
            <a:off x="1234440" y="2359152"/>
            <a:ext cx="4206240" cy="274320"/>
          </a:xfrm>
          <a:prstGeom prst="rect">
            <a:avLst/>
          </a:prstGeom>
          <a:noFill/>
          <a:ln/>
        </p:spPr>
        <p:txBody>
          <a:bodyPr wrap="square" lIns="0" tIns="0" rIns="0" bIns="0" rtlCol="0" anchor="t"/>
          <a:lstStyle/>
          <a:p>
            <a:pPr marL="0" indent="0">
              <a:buNone/>
            </a:pPr>
            <a:r>
              <a:rPr lang="en-US" sz="1300" dirty="0">
                <a:solidFill>
                  <a:srgbClr val="5B676A"/>
                </a:solidFill>
              </a:rPr>
              <a:t>so chế độ Chỉ từ khóa với Kết hợp</a:t>
            </a:r>
            <a:endParaRPr lang="en-US" sz="1300" dirty="0"/>
          </a:p>
        </p:txBody>
      </p:sp>
      <p:sp>
        <p:nvSpPr>
          <p:cNvPr id="11" name="num-178"/>
          <p:cNvSpPr/>
          <p:nvPr/>
        </p:nvSpPr>
        <p:spPr>
          <a:xfrm>
            <a:off x="457200" y="2880360"/>
            <a:ext cx="548640" cy="548640"/>
          </a:xfrm>
          <a:prstGeom prst="ellipse">
            <a:avLst/>
          </a:prstGeom>
          <a:solidFill>
            <a:schemeClr val="accent1"/>
          </a:solidFill>
          <a:ln w="12700">
            <a:solidFill>
              <a:schemeClr val="accent1"/>
            </a:solidFill>
            <a:prstDash val="solid"/>
          </a:ln>
        </p:spPr>
      </p:sp>
      <p:sp>
        <p:nvSpPr>
          <p:cNvPr id="12" name="txt-179"/>
          <p:cNvSpPr txBox="1"/>
          <p:nvPr/>
        </p:nvSpPr>
        <p:spPr>
          <a:xfrm>
            <a:off x="457200" y="28803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xt-180"/>
          <p:cNvSpPr txBox="1"/>
          <p:nvPr/>
        </p:nvSpPr>
        <p:spPr>
          <a:xfrm>
            <a:off x="1234440" y="2862072"/>
            <a:ext cx="4206240" cy="320040"/>
          </a:xfrm>
          <a:prstGeom prst="rect">
            <a:avLst/>
          </a:prstGeom>
          <a:noFill/>
          <a:ln/>
        </p:spPr>
        <p:txBody>
          <a:bodyPr wrap="square" lIns="0" tIns="0" rIns="0" bIns="0" rtlCol="0" anchor="t"/>
          <a:lstStyle/>
          <a:p>
            <a:pPr marL="0" indent="0">
              <a:buNone/>
            </a:pPr>
            <a:r>
              <a:rPr lang="en-US" sz="1600" b="1" dirty="0">
                <a:solidFill>
                  <a:schemeClr val="tx1"/>
                </a:solidFill>
              </a:rPr>
              <a:t>Bấm một ảnh, chọn Tìm ảnh tương đồng</a:t>
            </a:r>
            <a:endParaRPr lang="en-US" sz="1600" dirty="0"/>
          </a:p>
        </p:txBody>
      </p:sp>
      <p:sp>
        <p:nvSpPr>
          <p:cNvPr id="14" name="txt-181"/>
          <p:cNvSpPr txBox="1"/>
          <p:nvPr/>
        </p:nvSpPr>
        <p:spPr>
          <a:xfrm>
            <a:off x="1234440" y="3182112"/>
            <a:ext cx="4206240" cy="274320"/>
          </a:xfrm>
          <a:prstGeom prst="rect">
            <a:avLst/>
          </a:prstGeom>
          <a:noFill/>
          <a:ln/>
        </p:spPr>
        <p:txBody>
          <a:bodyPr wrap="square" lIns="0" tIns="0" rIns="0" bIns="0" rtlCol="0" anchor="t"/>
          <a:lstStyle/>
          <a:p>
            <a:pPr marL="0" indent="0">
              <a:buNone/>
            </a:pPr>
            <a:r>
              <a:rPr lang="en-US" sz="1300" dirty="0">
                <a:solidFill>
                  <a:srgbClr val="5B676A"/>
                </a:solidFill>
              </a:rPr>
              <a:t>ảnh giống về kiến trúc</a:t>
            </a:r>
            <a:endParaRPr lang="en-US" sz="1300" dirty="0"/>
          </a:p>
        </p:txBody>
      </p:sp>
      <p:sp>
        <p:nvSpPr>
          <p:cNvPr id="15" name="num-182"/>
          <p:cNvSpPr/>
          <p:nvPr/>
        </p:nvSpPr>
        <p:spPr>
          <a:xfrm>
            <a:off x="457200" y="3703320"/>
            <a:ext cx="548640" cy="548640"/>
          </a:xfrm>
          <a:prstGeom prst="ellipse">
            <a:avLst/>
          </a:prstGeom>
          <a:solidFill>
            <a:schemeClr val="accent1"/>
          </a:solidFill>
          <a:ln w="12700">
            <a:solidFill>
              <a:schemeClr val="accent1"/>
            </a:solidFill>
            <a:prstDash val="solid"/>
          </a:ln>
        </p:spPr>
      </p:sp>
      <p:sp>
        <p:nvSpPr>
          <p:cNvPr id="16" name="txt-183"/>
          <p:cNvSpPr txBox="1"/>
          <p:nvPr/>
        </p:nvSpPr>
        <p:spPr>
          <a:xfrm>
            <a:off x="457200" y="3703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xt-184"/>
          <p:cNvSpPr txBox="1"/>
          <p:nvPr/>
        </p:nvSpPr>
        <p:spPr>
          <a:xfrm>
            <a:off x="1234440" y="3685032"/>
            <a:ext cx="4206240" cy="320040"/>
          </a:xfrm>
          <a:prstGeom prst="rect">
            <a:avLst/>
          </a:prstGeom>
          <a:noFill/>
          <a:ln/>
        </p:spPr>
        <p:txBody>
          <a:bodyPr wrap="square" lIns="0" tIns="0" rIns="0" bIns="0" rtlCol="0" anchor="t"/>
          <a:lstStyle/>
          <a:p>
            <a:pPr marL="0" indent="0">
              <a:buNone/>
            </a:pPr>
            <a:r>
              <a:rPr lang="en-US" sz="1600" b="1" dirty="0">
                <a:solidFill>
                  <a:schemeClr val="tx1"/>
                </a:solidFill>
              </a:rPr>
              <a:t>Dán một ảnh từ ngoài vào</a:t>
            </a:r>
            <a:endParaRPr lang="en-US" sz="1600" dirty="0"/>
          </a:p>
        </p:txBody>
      </p:sp>
      <p:sp>
        <p:nvSpPr>
          <p:cNvPr id="18" name="txt-185"/>
          <p:cNvSpPr txBox="1"/>
          <p:nvPr/>
        </p:nvSpPr>
        <p:spPr>
          <a:xfrm>
            <a:off x="1234440" y="4005072"/>
            <a:ext cx="4206240" cy="274320"/>
          </a:xfrm>
          <a:prstGeom prst="rect">
            <a:avLst/>
          </a:prstGeom>
          <a:noFill/>
          <a:ln/>
        </p:spPr>
        <p:txBody>
          <a:bodyPr wrap="square" lIns="0" tIns="0" rIns="0" bIns="0" rtlCol="0" anchor="t"/>
          <a:lstStyle/>
          <a:p>
            <a:pPr marL="0" indent="0">
              <a:buNone/>
            </a:pPr>
            <a:r>
              <a:rPr lang="en-US" sz="1300" dirty="0">
                <a:solidFill>
                  <a:srgbClr val="5B676A"/>
                </a:solidFill>
              </a:rPr>
              <a:t>tìm bằng ảnh mẫu</a:t>
            </a:r>
            <a:endParaRPr lang="en-US" sz="1300" dirty="0"/>
          </a:p>
        </p:txBody>
      </p:sp>
      <p:sp>
        <p:nvSpPr>
          <p:cNvPr id="19" name="card-186"/>
          <p:cNvSpPr/>
          <p:nvPr/>
        </p:nvSpPr>
        <p:spPr>
          <a:xfrm>
            <a:off x="5760720" y="1234440"/>
            <a:ext cx="2926080" cy="3108960"/>
          </a:xfrm>
          <a:prstGeom prst="roundRect">
            <a:avLst>
              <a:gd name="adj" fmla="val 3750"/>
            </a:avLst>
          </a:prstGeom>
          <a:solidFill>
            <a:schemeClr val="tx1"/>
          </a:solidFill>
          <a:ln w="12700">
            <a:solidFill>
              <a:schemeClr val="tx1"/>
            </a:solidFill>
            <a:prstDash val="solid"/>
          </a:ln>
        </p:spPr>
      </p:sp>
      <p:sp>
        <p:nvSpPr>
          <p:cNvPr id="20" name="badge-187"/>
          <p:cNvSpPr/>
          <p:nvPr/>
        </p:nvSpPr>
        <p:spPr>
          <a:xfrm>
            <a:off x="6286500" y="1964008"/>
            <a:ext cx="1874520" cy="1723979"/>
          </a:xfrm>
          <a:prstGeom prst="ellipse">
            <a:avLst/>
          </a:prstGeom>
          <a:solidFill>
            <a:schemeClr val="accent2"/>
          </a:solidFill>
          <a:ln w="12700">
            <a:solidFill>
              <a:schemeClr val="accent2"/>
            </a:solidFill>
            <a:prstDash val="solid"/>
          </a:ln>
        </p:spPr>
      </p:sp>
      <p:pic>
        <p:nvPicPr>
          <p:cNvPr id="21" name="icon-188" descr="preencoded.png"/>
          <p:cNvPicPr>
            <a:picLocks noChangeAspect="1"/>
          </p:cNvPicPr>
          <p:nvPr/>
        </p:nvPicPr>
        <p:blipFill>
          <a:blip r:embed="rId3"/>
          <a:stretch>
            <a:fillRect/>
          </a:stretch>
        </p:blipFill>
        <p:spPr>
          <a:xfrm>
            <a:off x="6705599" y="2282283"/>
            <a:ext cx="1047657" cy="1047657"/>
          </a:xfrm>
          <a:prstGeom prst="rect">
            <a:avLst/>
          </a:prstGeom>
        </p:spPr>
      </p:pic>
      <p:sp>
        <p:nvSpPr>
          <p:cNvPr id="23" name="txt-190"/>
          <p:cNvSpPr txBox="1"/>
          <p:nvPr/>
        </p:nvSpPr>
        <p:spPr>
          <a:xfrm>
            <a:off x="6035040" y="3108960"/>
            <a:ext cx="2377440" cy="731520"/>
          </a:xfrm>
          <a:prstGeom prst="rect">
            <a:avLst/>
          </a:prstGeom>
          <a:noFill/>
          <a:ln/>
        </p:spPr>
        <p:txBody>
          <a:bodyPr wrap="square" lIns="0" tIns="0" rIns="0" bIns="0" rtlCol="0" anchor="t"/>
          <a:lstStyle/>
          <a:p>
            <a:pPr marL="0" indent="0" algn="ctr">
              <a:buNone/>
            </a:pP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Hạn chế và hướng phát triển</a:t>
            </a:r>
            <a:endParaRPr lang="en-US" sz="2800" dirty="0"/>
          </a:p>
        </p:txBody>
      </p:sp>
      <p:sp>
        <p:nvSpPr>
          <p:cNvPr id="3" name="card-191"/>
          <p:cNvSpPr/>
          <p:nvPr/>
        </p:nvSpPr>
        <p:spPr>
          <a:xfrm>
            <a:off x="457200" y="1234440"/>
            <a:ext cx="3977640" cy="3291840"/>
          </a:xfrm>
          <a:prstGeom prst="roundRect">
            <a:avLst>
              <a:gd name="adj" fmla="val 3333"/>
            </a:avLst>
          </a:prstGeom>
          <a:solidFill>
            <a:schemeClr val="bg2"/>
          </a:solidFill>
          <a:ln w="12700">
            <a:solidFill>
              <a:schemeClr val="bg2"/>
            </a:solidFill>
            <a:prstDash val="solid"/>
          </a:ln>
        </p:spPr>
      </p:sp>
      <p:sp>
        <p:nvSpPr>
          <p:cNvPr id="4" name="badge-192"/>
          <p:cNvSpPr/>
          <p:nvPr/>
        </p:nvSpPr>
        <p:spPr>
          <a:xfrm>
            <a:off x="685800" y="1463040"/>
            <a:ext cx="548640" cy="548640"/>
          </a:xfrm>
          <a:prstGeom prst="ellipse">
            <a:avLst/>
          </a:prstGeom>
          <a:solidFill>
            <a:schemeClr val="accent2"/>
          </a:solidFill>
          <a:ln w="12700">
            <a:solidFill>
              <a:schemeClr val="accent2"/>
            </a:solidFill>
            <a:prstDash val="solid"/>
          </a:ln>
        </p:spPr>
      </p:sp>
      <p:pic>
        <p:nvPicPr>
          <p:cNvPr id="5" name="icon-193" descr="preencoded.png"/>
          <p:cNvPicPr>
            <a:picLocks noChangeAspect="1"/>
          </p:cNvPicPr>
          <p:nvPr/>
        </p:nvPicPr>
        <p:blipFill>
          <a:blip r:embed="rId3"/>
          <a:stretch>
            <a:fillRect/>
          </a:stretch>
        </p:blipFill>
        <p:spPr>
          <a:xfrm>
            <a:off x="822960" y="1600200"/>
            <a:ext cx="274320" cy="274320"/>
          </a:xfrm>
          <a:prstGeom prst="rect">
            <a:avLst/>
          </a:prstGeom>
        </p:spPr>
      </p:pic>
      <p:sp>
        <p:nvSpPr>
          <p:cNvPr id="6" name="txt-194"/>
          <p:cNvSpPr txBox="1"/>
          <p:nvPr/>
        </p:nvSpPr>
        <p:spPr>
          <a:xfrm>
            <a:off x="1371600" y="1554480"/>
            <a:ext cx="2743200" cy="365760"/>
          </a:xfrm>
          <a:prstGeom prst="rect">
            <a:avLst/>
          </a:prstGeom>
          <a:noFill/>
          <a:ln/>
        </p:spPr>
        <p:txBody>
          <a:bodyPr wrap="square" lIns="0" tIns="0" rIns="0" bIns="0" rtlCol="0" anchor="t"/>
          <a:lstStyle/>
          <a:p>
            <a:pPr marL="0" indent="0">
              <a:buNone/>
            </a:pPr>
            <a:r>
              <a:rPr lang="en-US" sz="1700" b="1" dirty="0">
                <a:solidFill>
                  <a:schemeClr val="tx1"/>
                </a:solidFill>
              </a:rPr>
              <a:t>Còn hạn chế</a:t>
            </a:r>
            <a:endParaRPr lang="en-US" sz="1700" dirty="0"/>
          </a:p>
        </p:txBody>
      </p:sp>
      <p:sp>
        <p:nvSpPr>
          <p:cNvPr id="7" name="txt-195"/>
          <p:cNvSpPr txBox="1"/>
          <p:nvPr/>
        </p:nvSpPr>
        <p:spPr>
          <a:xfrm>
            <a:off x="685800" y="2103120"/>
            <a:ext cx="356616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Chỉ tìm được bằng tiếng Anh</a:t>
            </a:r>
            <a:endParaRPr lang="en-US" sz="1600" dirty="0"/>
          </a:p>
          <a:p>
            <a:pPr marL="342900" indent="-342900">
              <a:spcAft>
                <a:spcPts val="1200"/>
              </a:spcAft>
              <a:buSzPct val="100000"/>
              <a:buChar char="•"/>
            </a:pPr>
            <a:r>
              <a:rPr lang="en-US" sz="1600" dirty="0">
                <a:solidFill>
                  <a:schemeClr val="tx1"/>
                </a:solidFill>
              </a:rPr>
              <a:t>Câu dùng để chấm điểm do AI viết, dài hơn câu người dùng thật gõ</a:t>
            </a:r>
            <a:endParaRPr lang="en-US" sz="1600" dirty="0"/>
          </a:p>
          <a:p>
            <a:pPr marL="342900" indent="-342900">
              <a:spcAft>
                <a:spcPts val="1200"/>
              </a:spcAft>
              <a:buSzPct val="100000"/>
              <a:buChar char="•"/>
            </a:pPr>
            <a:r>
              <a:rPr lang="en-US" sz="1600" dirty="0">
                <a:solidFill>
                  <a:schemeClr val="tx1"/>
                </a:solidFill>
              </a:rPr>
              <a:t>Tìm ảnh giống ảnh mới cải thiện ít</a:t>
            </a:r>
            <a:endParaRPr lang="en-US" sz="1600" dirty="0"/>
          </a:p>
          <a:p>
            <a:pPr marL="342900" indent="-342900">
              <a:spcAft>
                <a:spcPts val="1200"/>
              </a:spcAft>
              <a:buSzPct val="100000"/>
              <a:buChar char="•"/>
            </a:pPr>
            <a:r>
              <a:rPr lang="en-US" sz="1600" dirty="0">
                <a:solidFill>
                  <a:schemeClr val="tx1"/>
                </a:solidFill>
              </a:rPr>
              <a:t>Khoảng 4% mô tả có thể vẫn còn sai</a:t>
            </a:r>
            <a:endParaRPr lang="en-US" sz="1600" dirty="0"/>
          </a:p>
        </p:txBody>
      </p:sp>
      <p:sp>
        <p:nvSpPr>
          <p:cNvPr id="8" name="card-196"/>
          <p:cNvSpPr/>
          <p:nvPr/>
        </p:nvSpPr>
        <p:spPr>
          <a:xfrm>
            <a:off x="4709160" y="1234440"/>
            <a:ext cx="3977640" cy="3291840"/>
          </a:xfrm>
          <a:prstGeom prst="roundRect">
            <a:avLst>
              <a:gd name="adj" fmla="val 3333"/>
            </a:avLst>
          </a:prstGeom>
          <a:solidFill>
            <a:schemeClr val="bg2"/>
          </a:solidFill>
          <a:ln w="12700">
            <a:solidFill>
              <a:schemeClr val="bg2"/>
            </a:solidFill>
            <a:prstDash val="solid"/>
          </a:ln>
        </p:spPr>
      </p:sp>
      <p:sp>
        <p:nvSpPr>
          <p:cNvPr id="9" name="badge-197"/>
          <p:cNvSpPr/>
          <p:nvPr/>
        </p:nvSpPr>
        <p:spPr>
          <a:xfrm>
            <a:off x="4937760" y="1463040"/>
            <a:ext cx="548640" cy="548640"/>
          </a:xfrm>
          <a:prstGeom prst="ellipse">
            <a:avLst/>
          </a:prstGeom>
          <a:solidFill>
            <a:schemeClr val="accent3"/>
          </a:solidFill>
          <a:ln w="12700">
            <a:solidFill>
              <a:schemeClr val="accent3"/>
            </a:solidFill>
            <a:prstDash val="solid"/>
          </a:ln>
        </p:spPr>
      </p:sp>
      <p:pic>
        <p:nvPicPr>
          <p:cNvPr id="10" name="icon-198" descr="preencoded.png"/>
          <p:cNvPicPr>
            <a:picLocks noChangeAspect="1"/>
          </p:cNvPicPr>
          <p:nvPr/>
        </p:nvPicPr>
        <p:blipFill>
          <a:blip r:embed="rId4"/>
          <a:stretch>
            <a:fillRect/>
          </a:stretch>
        </p:blipFill>
        <p:spPr>
          <a:xfrm>
            <a:off x="5074920" y="1600200"/>
            <a:ext cx="274320" cy="274320"/>
          </a:xfrm>
          <a:prstGeom prst="rect">
            <a:avLst/>
          </a:prstGeom>
        </p:spPr>
      </p:pic>
      <p:sp>
        <p:nvSpPr>
          <p:cNvPr id="11" name="txt-199"/>
          <p:cNvSpPr txBox="1"/>
          <p:nvPr/>
        </p:nvSpPr>
        <p:spPr>
          <a:xfrm>
            <a:off x="5623560" y="1554480"/>
            <a:ext cx="2743200" cy="365760"/>
          </a:xfrm>
          <a:prstGeom prst="rect">
            <a:avLst/>
          </a:prstGeom>
          <a:noFill/>
          <a:ln/>
        </p:spPr>
        <p:txBody>
          <a:bodyPr wrap="square" lIns="0" tIns="0" rIns="0" bIns="0" rtlCol="0" anchor="t"/>
          <a:lstStyle/>
          <a:p>
            <a:pPr marL="0" indent="0">
              <a:buNone/>
            </a:pPr>
            <a:r>
              <a:rPr lang="en-US" sz="1700" b="1" dirty="0">
                <a:solidFill>
                  <a:schemeClr val="tx1"/>
                </a:solidFill>
              </a:rPr>
              <a:t>Hướng tiếp theo</a:t>
            </a:r>
            <a:endParaRPr lang="en-US" sz="1700" dirty="0"/>
          </a:p>
        </p:txBody>
      </p:sp>
      <p:sp>
        <p:nvSpPr>
          <p:cNvPr id="12" name="txt-200"/>
          <p:cNvSpPr txBox="1"/>
          <p:nvPr/>
        </p:nvSpPr>
        <p:spPr>
          <a:xfrm>
            <a:off x="4937760" y="2103120"/>
            <a:ext cx="356616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Hỗ trợ gõ tiếng Việt</a:t>
            </a:r>
            <a:endParaRPr lang="en-US" sz="1600" dirty="0"/>
          </a:p>
          <a:p>
            <a:pPr marL="342900" indent="-342900">
              <a:spcAft>
                <a:spcPts val="1200"/>
              </a:spcAft>
              <a:buSzPct val="100000"/>
              <a:buChar char="•"/>
            </a:pPr>
            <a:r>
              <a:rPr lang="en-US" sz="1600" dirty="0">
                <a:solidFill>
                  <a:schemeClr val="tx1"/>
                </a:solidFill>
              </a:rPr>
              <a:t>Bộ câu hỏi do người thật viết để chấm điểm</a:t>
            </a:r>
            <a:endParaRPr lang="en-US" sz="1600" dirty="0"/>
          </a:p>
          <a:p>
            <a:pPr marL="342900" indent="-342900">
              <a:spcAft>
                <a:spcPts val="1200"/>
              </a:spcAft>
              <a:buSzPct val="100000"/>
              <a:buChar char="•"/>
            </a:pPr>
            <a:r>
              <a:rPr lang="en-US" sz="1600" dirty="0">
                <a:solidFill>
                  <a:schemeClr val="tx1"/>
                </a:solidFill>
              </a:rPr>
              <a:t>Dạy thêm cách so ảnh với ảnh</a:t>
            </a:r>
            <a:endParaRPr lang="en-US" sz="1600" dirty="0"/>
          </a:p>
          <a:p>
            <a:pPr marL="342900" indent="-342900">
              <a:spcAft>
                <a:spcPts val="1200"/>
              </a:spcAft>
              <a:buSzPct val="100000"/>
              <a:buChar char="•"/>
            </a:pPr>
            <a:r>
              <a:rPr lang="en-US" sz="1600" dirty="0">
                <a:solidFill>
                  <a:schemeClr val="tx1"/>
                </a:solidFill>
              </a:rPr>
              <a:t>Train trên GPU với mô hình lớn hơn</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6A"/>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48640"/>
            <a:ext cx="7863840" cy="822960"/>
          </a:xfrm>
          <a:prstGeom prst="rect">
            <a:avLst/>
          </a:prstGeom>
          <a:noFill/>
          <a:ln/>
        </p:spPr>
        <p:txBody>
          <a:bodyPr wrap="square"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Tóm lại</a:t>
            </a:r>
            <a:endParaRPr lang="en-US" sz="3400" dirty="0"/>
          </a:p>
        </p:txBody>
      </p:sp>
      <p:sp>
        <p:nvSpPr>
          <p:cNvPr id="3" name="Text 0"/>
          <p:cNvSpPr>
            <a:spLocks noGrp="1"/>
          </p:cNvSpPr>
          <p:nvPr>
            <p:ph type="body" idx="101" hasCustomPrompt="1"/>
          </p:nvPr>
        </p:nvSpPr>
        <p:spPr>
          <a:xfrm>
            <a:off x="640080" y="1554480"/>
            <a:ext cx="7863840" cy="3017520"/>
          </a:xfrm>
          <a:prstGeom prst="rect">
            <a:avLst/>
          </a:prstGeom>
          <a:noFill/>
          <a:ln/>
        </p:spPr>
        <p:txBody>
          <a:bodyPr wrap="square" rtlCol="0" anchor="t"/>
          <a:lstStyle/>
          <a:p>
            <a:pPr marL="342900" indent="-342900" algn="l">
              <a:spcAft>
                <a:spcPts val="600"/>
              </a:spcAft>
              <a:buSzPct val="100000"/>
              <a:buChar char="•"/>
            </a:pPr>
            <a:r>
              <a:rPr lang="en-US" sz="1800" dirty="0">
                <a:solidFill>
                  <a:schemeClr val="accent6"/>
                </a:solidFill>
              </a:rPr>
              <a:t>Dùng hai AI viết và kiểm tra chéo mô tả cho 7.756 ảnh kiến trúc Việt Nam</a:t>
            </a:r>
            <a:endParaRPr lang="en-US" sz="1800" dirty="0"/>
          </a:p>
          <a:p>
            <a:pPr marL="342900" indent="-342900" algn="l">
              <a:spcAft>
                <a:spcPts val="600"/>
              </a:spcAft>
              <a:buSzPct val="100000"/>
              <a:buChar char="•"/>
            </a:pPr>
            <a:r>
              <a:rPr lang="en-US" sz="1800" dirty="0">
                <a:solidFill>
                  <a:schemeClr val="accent6"/>
                </a:solidFill>
              </a:rPr>
              <a:t>Dạy lại CLIP trên laptop: tìm đúng ngay kết quả đầu tăng từ 47% lên 77%</a:t>
            </a:r>
            <a:endParaRPr lang="en-US" sz="1800" dirty="0"/>
          </a:p>
          <a:p>
            <a:pPr marL="342900" indent="-342900" algn="l">
              <a:spcAft>
                <a:spcPts val="600"/>
              </a:spcAft>
              <a:buSzPct val="100000"/>
              <a:buChar char="•"/>
            </a:pPr>
            <a:r>
              <a:rPr lang="en-US" sz="1800" dirty="0">
                <a:solidFill>
                  <a:schemeClr val="accent6"/>
                </a:solidFill>
              </a:rPr>
              <a:t>Hệ thống web tìm bằng mô tả hoặc bằng ảnh, đang chạy được</a:t>
            </a:r>
            <a:endParaRPr lang="en-US" sz="1800" dirty="0"/>
          </a:p>
          <a:p>
            <a:pPr marL="0" indent="0" algn="l">
              <a:spcAft>
                <a:spcPts val="600"/>
              </a:spcAft>
              <a:buNone/>
            </a:pPr>
            <a:r>
              <a:rPr lang="en-US" sz="1800" dirty="0">
                <a:solidFill>
                  <a:schemeClr val="accent6"/>
                </a:solidFill>
              </a:rPr>
              <a:t> </a:t>
            </a:r>
            <a:endParaRPr lang="en-US" sz="1800" dirty="0"/>
          </a:p>
          <a:p>
            <a:pPr marL="0" indent="0" algn="l">
              <a:spcAft>
                <a:spcPts val="600"/>
              </a:spcAft>
              <a:buNone/>
            </a:pPr>
            <a:r>
              <a:rPr lang="en-US" sz="1800" b="1" dirty="0">
                <a:solidFill>
                  <a:srgbClr val="FFFFFF"/>
                </a:solidFill>
              </a:rPr>
              <a:t>Cảm ơn thầy và các bạn đã lắng nghe!</a:t>
            </a:r>
            <a:endParaRPr lang="en-US" sz="1800" dirty="0"/>
          </a:p>
        </p:txBody>
      </p:sp>
    </p:spTree>
  </p:cSld>
  <p:clrMapOvr>
    <a:masterClrMapping/>
  </p:clrMapOvr>
</p:sld>
</file>

<file path=ppt/theme/theme1.xml><?xml version="1.0" encoding="utf-8"?>
<a:theme xmlns:a="http://schemas.openxmlformats.org/drawingml/2006/main" name="KIS Son Mai">
  <a:themeElements>
    <a:clrScheme name="KIS Son Mai">
      <a:dk1>
        <a:srgbClr val="1F2A2E"/>
      </a:dk1>
      <a:lt1>
        <a:srgbClr val="FFFFFF"/>
      </a:lt1>
      <a:dk2>
        <a:srgbClr val="8E2B22"/>
      </a:dk2>
      <a:lt2>
        <a:srgbClr val="F2F4F1"/>
      </a:lt2>
      <a:accent1>
        <a:srgbClr val="8E2B22"/>
      </a:accent1>
      <a:accent2>
        <a:srgbClr val="C8962E"/>
      </a:accent2>
      <a:accent3>
        <a:srgbClr val="5F8A77"/>
      </a:accent3>
      <a:accent4>
        <a:srgbClr val="1F2A2E"/>
      </a:accent4>
      <a:accent5>
        <a:srgbClr val="AEB6B2"/>
      </a:accent5>
      <a:accent6>
        <a:srgbClr val="E9D3A0"/>
      </a:accent6>
      <a:hlink>
        <a:srgbClr val="8E2B22"/>
      </a:hlink>
      <a:folHlink>
        <a:srgbClr val="5F8A77"/>
      </a:folHlink>
    </a:clrScheme>
    <a:fontScheme name="KIS Son M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3624</Words>
  <Application>Microsoft Macintosh PowerPoint</Application>
  <PresentationFormat>On-screen Show (16:9)</PresentationFormat>
  <Paragraphs>223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KIS Son Mai</vt:lpstr>
      <vt:lpstr>Tìm ảnh kiến trúc Việt Nam bằng lời mô tả</vt:lpstr>
      <vt:lpstr>Có nhiều ảnh, nhưng khó tìm đúng ảnh</vt:lpstr>
      <vt:lpstr>Hệ thống làm được gì</vt:lpstr>
      <vt:lpstr>Bốn bước thực hiện</vt:lpstr>
      <vt:lpstr>Thu thập và làm sạch ảnh</vt:lpstr>
      <vt:lpstr>Nhờ AI viết mô tả cho từng ảnh</vt:lpstr>
      <vt:lpstr>Hai AI kiểm tra chéo nhau</vt:lpstr>
      <vt:lpstr>Khi AI “nhìn nhầm”</vt:lpstr>
      <vt:lpstr>Bộ dữ liệu cuối cùng</vt:lpstr>
      <vt:lpstr>CLIP: đặt ảnh và câu chữ lên cùng một “bản đồ”</vt:lpstr>
      <vt:lpstr>Dạy lại CLIP như thế nào</vt:lpstr>
      <vt:lpstr>Kết quả: tìm đúng ảnh nhiều hơn rõ rệt</vt:lpstr>
      <vt:lpstr>Ví dụ: cùng một câu, hai mô hình</vt:lpstr>
      <vt:lpstr>Tìm ảnh giống ảnh: cải thiện ít hơn</vt:lpstr>
      <vt:lpstr>Tìm bằng mô tả: kết hợp ba cách</vt:lpstr>
      <vt:lpstr>Các thành phần của hệ thống</vt:lpstr>
      <vt:lpstr>Demo</vt:lpstr>
      <vt:lpstr>Hạn chế và hướng phát triển</vt:lpstr>
      <vt:lpstr>Tóm lại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ảnh kiến trúc Việt Nam bằng mô tả</dc:title>
  <dc:subject>PptxGenJS Presentation</dc:subject>
  <dc:creator>PptxGenJS</dc:creator>
  <cp:lastModifiedBy>Microsoft Office User</cp:lastModifiedBy>
  <cp:revision>3</cp:revision>
  <dcterms:created xsi:type="dcterms:W3CDTF">2026-10-19T07:45:10Z</dcterms:created>
  <dcterms:modified xsi:type="dcterms:W3CDTF">2026-10-20T09:34:20Z</dcterms:modified>
</cp:coreProperties>
</file>